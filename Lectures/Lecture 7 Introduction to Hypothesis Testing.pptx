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62" r:id="rId3"/>
    <p:sldId id="258" r:id="rId4"/>
    <p:sldId id="260" r:id="rId5"/>
    <p:sldId id="263" r:id="rId6"/>
    <p:sldId id="264" r:id="rId7"/>
    <p:sldId id="265" r:id="rId8"/>
    <p:sldId id="313" r:id="rId9"/>
    <p:sldId id="279" r:id="rId10"/>
    <p:sldId id="266" r:id="rId11"/>
    <p:sldId id="267" r:id="rId12"/>
    <p:sldId id="268" r:id="rId13"/>
    <p:sldId id="269" r:id="rId14"/>
    <p:sldId id="270" r:id="rId15"/>
    <p:sldId id="285" r:id="rId16"/>
    <p:sldId id="277" r:id="rId17"/>
    <p:sldId id="271" r:id="rId18"/>
    <p:sldId id="272" r:id="rId19"/>
    <p:sldId id="273" r:id="rId20"/>
    <p:sldId id="274" r:id="rId21"/>
    <p:sldId id="275" r:id="rId22"/>
    <p:sldId id="276" r:id="rId23"/>
    <p:sldId id="278" r:id="rId24"/>
    <p:sldId id="280" r:id="rId25"/>
    <p:sldId id="281" r:id="rId26"/>
    <p:sldId id="282" r:id="rId27"/>
    <p:sldId id="283" r:id="rId28"/>
    <p:sldId id="284" r:id="rId29"/>
    <p:sldId id="312" r:id="rId30"/>
    <p:sldId id="286" r:id="rId31"/>
    <p:sldId id="287" r:id="rId32"/>
    <p:sldId id="288" r:id="rId33"/>
    <p:sldId id="289" r:id="rId34"/>
    <p:sldId id="290" r:id="rId35"/>
    <p:sldId id="291" r:id="rId36"/>
    <p:sldId id="292" r:id="rId37"/>
    <p:sldId id="293" r:id="rId38"/>
    <p:sldId id="294" r:id="rId39"/>
    <p:sldId id="31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879"/>
    <a:srgbClr val="D3B979"/>
    <a:srgbClr val="D2C121"/>
    <a:srgbClr val="D2B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1"/>
    <p:restoredTop sz="94687"/>
  </p:normalViewPr>
  <p:slideViewPr>
    <p:cSldViewPr>
      <p:cViewPr>
        <p:scale>
          <a:sx n="99" d="100"/>
          <a:sy n="99" d="100"/>
        </p:scale>
        <p:origin x="184" y="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936401-9581-44C6-A537-19BF0BF78C51}" type="datetimeFigureOut">
              <a:rPr lang="en-US" smtClean="0"/>
              <a:t>3/1/2021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0A2D81-2BA5-4A97-B0E4-22F911D6B50D}" type="slidenum">
              <a:rPr lang="en-US" smtClean="0"/>
              <a:t>‹#›</a:t>
            </a:fld>
            <a:endParaRPr lang="en-US"/>
          </a:p>
        </p:txBody>
      </p:sp>
    </p:spTree>
    <p:extLst>
      <p:ext uri="{BB962C8B-B14F-4D97-AF65-F5344CB8AC3E}">
        <p14:creationId xmlns:p14="http://schemas.microsoft.com/office/powerpoint/2010/main" val="2506189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0A2D81-2BA5-4A97-B0E4-22F911D6B50D}" type="slidenum">
              <a:rPr lang="en-US" smtClean="0"/>
              <a:t>17</a:t>
            </a:fld>
            <a:endParaRPr lang="en-US"/>
          </a:p>
        </p:txBody>
      </p:sp>
    </p:spTree>
    <p:extLst>
      <p:ext uri="{BB962C8B-B14F-4D97-AF65-F5344CB8AC3E}">
        <p14:creationId xmlns:p14="http://schemas.microsoft.com/office/powerpoint/2010/main" val="3419626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p:cNvCxnSpPr/>
          <p:nvPr userDrawn="1"/>
        </p:nvCxnSpPr>
        <p:spPr>
          <a:xfrm>
            <a:off x="457200" y="6096000"/>
            <a:ext cx="8229600" cy="1588"/>
          </a:xfrm>
          <a:prstGeom prst="line">
            <a:avLst/>
          </a:prstGeom>
          <a:ln w="6350"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E6AD962-ADD2-7942-AEEE-48818CDFCC96}"/>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457200" y="6280847"/>
            <a:ext cx="3048000" cy="46094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0300EE-23E3-8B48-8552-30A0D75D77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9" y="0"/>
            <a:ext cx="9141242" cy="6858000"/>
          </a:xfrm>
          <a:prstGeom prst="rect">
            <a:avLst/>
          </a:prstGeom>
        </p:spPr>
      </p:pic>
      <p:pic>
        <p:nvPicPr>
          <p:cNvPr id="3" name="Picture 2">
            <a:extLst>
              <a:ext uri="{FF2B5EF4-FFF2-40B4-BE49-F238E27FC236}">
                <a16:creationId xmlns:a16="http://schemas.microsoft.com/office/drawing/2014/main" id="{2F268A18-C50A-3045-BF78-87E6FAA7F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5200" y="5181600"/>
            <a:ext cx="2133600" cy="1095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EFCA0D-39E9-45F5-BD96-BC3AC37687F4}"/>
              </a:ext>
            </a:extLst>
          </p:cNvPr>
          <p:cNvSpPr txBox="1"/>
          <p:nvPr/>
        </p:nvSpPr>
        <p:spPr>
          <a:xfrm>
            <a:off x="762000" y="762000"/>
            <a:ext cx="7086600" cy="4647426"/>
          </a:xfrm>
          <a:prstGeom prst="rect">
            <a:avLst/>
          </a:prstGeom>
          <a:noFill/>
        </p:spPr>
        <p:txBody>
          <a:bodyPr wrap="square" rtlCol="0">
            <a:spAutoFit/>
          </a:bodyPr>
          <a:lstStyle/>
          <a:p>
            <a:r>
              <a:rPr lang="en-US" sz="3200" dirty="0"/>
              <a:t>STAT 2600</a:t>
            </a:r>
          </a:p>
          <a:p>
            <a:r>
              <a:rPr lang="en-US" sz="3200" dirty="0"/>
              <a:t>Introduction To Data Science</a:t>
            </a:r>
          </a:p>
          <a:p>
            <a:endParaRPr lang="en-US" sz="3200" dirty="0"/>
          </a:p>
          <a:p>
            <a:r>
              <a:rPr lang="en-US" sz="3200" dirty="0"/>
              <a:t>Lecture 7 Day 1 </a:t>
            </a:r>
          </a:p>
          <a:p>
            <a:r>
              <a:rPr lang="en-US" sz="3200" dirty="0"/>
              <a:t>03/03/2021</a:t>
            </a:r>
          </a:p>
          <a:p>
            <a:endParaRPr lang="en-US" sz="3200" dirty="0"/>
          </a:p>
          <a:p>
            <a:r>
              <a:rPr lang="en-US" sz="3200" i="1" dirty="0"/>
              <a:t>Introduction to Hypothesis Testing </a:t>
            </a:r>
          </a:p>
          <a:p>
            <a:endParaRPr lang="en-US" dirty="0"/>
          </a:p>
          <a:p>
            <a:endParaRPr lang="en-US" dirty="0"/>
          </a:p>
          <a:p>
            <a:r>
              <a:rPr lang="en-US" dirty="0"/>
              <a:t>Dr. Osita Onyejekwe </a:t>
            </a:r>
          </a:p>
          <a:p>
            <a:r>
              <a:rPr lang="en-US" dirty="0"/>
              <a:t>Spring 2021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F0510D-3D52-4CB2-8279-1EDC917D7E58}"/>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6" name="Rectangle 3">
            <a:extLst>
              <a:ext uri="{FF2B5EF4-FFF2-40B4-BE49-F238E27FC236}">
                <a16:creationId xmlns:a16="http://schemas.microsoft.com/office/drawing/2014/main" id="{D48F9741-ED6D-4820-BC57-AD9938FF5752}"/>
              </a:ext>
            </a:extLst>
          </p:cNvPr>
          <p:cNvSpPr txBox="1">
            <a:spLocks noChangeArrowheads="1"/>
          </p:cNvSpPr>
          <p:nvPr/>
        </p:nvSpPr>
        <p:spPr>
          <a:xfrm>
            <a:off x="222161" y="1066800"/>
            <a:ext cx="8216900" cy="38100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 criminal trial is an example of hypothesis testing without the statistics. </a:t>
            </a:r>
          </a:p>
          <a:p>
            <a:r>
              <a:rPr lang="en-US" altLang="en-US" sz="2400" dirty="0">
                <a:latin typeface="Times New Roman" panose="02020603050405020304" pitchFamily="18" charset="0"/>
                <a:cs typeface="Times New Roman" panose="02020603050405020304" pitchFamily="18" charset="0"/>
              </a:rPr>
              <a:t>In a trial a jury must decide between two hypotheses. The null hypothesis is</a:t>
            </a:r>
          </a:p>
          <a:p>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The defendant is innocent</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alternative hypothesis or research hypothesis is</a:t>
            </a:r>
          </a:p>
          <a:p>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The defendant is guilty</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jury does not know which hypothesis is true. They must make a decision on the basis of evidence presented.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4638341-ABBB-4184-9BD6-0715474BB318}"/>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5" name="Rectangle 3">
            <a:extLst>
              <a:ext uri="{FF2B5EF4-FFF2-40B4-BE49-F238E27FC236}">
                <a16:creationId xmlns:a16="http://schemas.microsoft.com/office/drawing/2014/main" id="{6EBF21C6-C267-4C1E-82AF-F3A13167B8DC}"/>
              </a:ext>
            </a:extLst>
          </p:cNvPr>
          <p:cNvSpPr txBox="1">
            <a:spLocks noChangeArrowheads="1"/>
          </p:cNvSpPr>
          <p:nvPr/>
        </p:nvSpPr>
        <p:spPr>
          <a:xfrm>
            <a:off x="120650" y="9906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In the language of statistics convicting the defendant is called </a:t>
            </a:r>
            <a:r>
              <a:rPr lang="en-US" altLang="en-US" sz="2400" i="1" dirty="0">
                <a:latin typeface="Times New Roman" panose="02020603050405020304" pitchFamily="18" charset="0"/>
                <a:cs typeface="Times New Roman" panose="02020603050405020304" pitchFamily="18" charset="0"/>
              </a:rPr>
              <a:t>rejecting the null hypothesis in favor of the alternative hypothesis</a:t>
            </a:r>
            <a:r>
              <a:rPr lang="en-US" altLang="en-US" sz="2400" dirty="0">
                <a:latin typeface="Times New Roman" panose="02020603050405020304" pitchFamily="18" charset="0"/>
                <a:cs typeface="Times New Roman" panose="02020603050405020304" pitchFamily="18" charset="0"/>
              </a:rPr>
              <a:t>. That is, the jury is saying that there is enough evidence to conclude that the defendant is guilty (i.e., there is enough evidence to support the alternative hypothesis).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If the jury acquits it is stating that </a:t>
            </a:r>
            <a:r>
              <a:rPr lang="en-US" altLang="en-US" sz="2400" i="1" dirty="0">
                <a:latin typeface="Times New Roman" panose="02020603050405020304" pitchFamily="18" charset="0"/>
                <a:cs typeface="Times New Roman" panose="02020603050405020304" pitchFamily="18" charset="0"/>
              </a:rPr>
              <a:t>there is not enough evidence to support the alternative hypothesis</a:t>
            </a:r>
            <a:r>
              <a:rPr lang="en-US" altLang="en-US" sz="2400" dirty="0">
                <a:latin typeface="Times New Roman" panose="02020603050405020304" pitchFamily="18" charset="0"/>
                <a:cs typeface="Times New Roman" panose="02020603050405020304" pitchFamily="18" charset="0"/>
              </a:rPr>
              <a:t>. Notice that the jury is not saying that the defendant is innocent, only that there is not enough evidence to support the alternative hypothesis. That is why we never say that we accept the null hypothesis.</a:t>
            </a:r>
          </a:p>
          <a:p>
            <a:pPr marL="0" indent="0">
              <a:buNone/>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6FA8D87-B13B-4FB1-83C2-22D609A2F0AC}"/>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5" name="Rectangle 3">
            <a:extLst>
              <a:ext uri="{FF2B5EF4-FFF2-40B4-BE49-F238E27FC236}">
                <a16:creationId xmlns:a16="http://schemas.microsoft.com/office/drawing/2014/main" id="{43B9D1E5-79C2-4EB0-858F-5EF102022133}"/>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There are two possible errors.</a:t>
            </a:r>
          </a:p>
          <a:p>
            <a:r>
              <a:rPr lang="en-US" altLang="en-US" sz="2400" dirty="0">
                <a:latin typeface="Times New Roman" panose="02020603050405020304" pitchFamily="18" charset="0"/>
                <a:cs typeface="Times New Roman" panose="02020603050405020304" pitchFamily="18" charset="0"/>
              </a:rPr>
              <a:t>A Type I error occurs when we reject a true null hypothesis. That is, a Type I error occurs when the jury convicts an innocent person. </a:t>
            </a:r>
            <a:r>
              <a:rPr lang="en-US" altLang="en-US" sz="2400" dirty="0">
                <a:solidFill>
                  <a:schemeClr val="accent2">
                    <a:lumMod val="75000"/>
                  </a:schemeClr>
                </a:solidFill>
                <a:latin typeface="Times New Roman" panose="02020603050405020304" pitchFamily="18" charset="0"/>
                <a:cs typeface="Times New Roman" panose="02020603050405020304" pitchFamily="18" charset="0"/>
              </a:rPr>
              <a:t>We would want the probability of this type of error [maybe 0.001 – beyond a reasonable doubt] to be very small for a criminal trial where a conviction results in the death penalty.</a:t>
            </a:r>
          </a:p>
          <a:p>
            <a:endParaRPr lang="en-US" altLang="en-US" sz="2400" dirty="0">
              <a:solidFill>
                <a:srgbClr val="D60093"/>
              </a:solidFill>
              <a:latin typeface="Times New Roman" panose="02020603050405020304" pitchFamily="18" charset="0"/>
              <a:cs typeface="Times New Roman" panose="02020603050405020304" pitchFamily="18" charset="0"/>
            </a:endParaRPr>
          </a:p>
          <a:p>
            <a:r>
              <a:rPr lang="en-US" altLang="en-US" sz="2400" dirty="0">
                <a:solidFill>
                  <a:srgbClr val="D60093"/>
                </a:solidFill>
                <a:latin typeface="Times New Roman" panose="02020603050405020304" pitchFamily="18" charset="0"/>
                <a:cs typeface="Times New Roman" panose="02020603050405020304" pitchFamily="18" charset="0"/>
              </a:rPr>
              <a:t>        </a:t>
            </a:r>
            <a:r>
              <a:rPr lang="en-US" altLang="en-US" sz="2400" b="1" dirty="0">
                <a:solidFill>
                  <a:srgbClr val="D60093"/>
                </a:solidFill>
                <a:latin typeface="Times New Roman" panose="02020603050405020304" pitchFamily="18" charset="0"/>
                <a:cs typeface="Times New Roman" panose="02020603050405020304" pitchFamily="18" charset="0"/>
              </a:rPr>
              <a:t>P(Type I error) = </a:t>
            </a:r>
            <a:r>
              <a:rPr lang="en-US" altLang="en-US" sz="2400" b="1"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  [usually 0.05 or 0.01]</a:t>
            </a:r>
          </a:p>
          <a:p>
            <a:endParaRPr lang="en-US" altLang="en-US" sz="2400" dirty="0">
              <a:solidFill>
                <a:srgbClr val="D60093"/>
              </a:solidFill>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7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D9F86E-5967-426B-8CEB-3D4C5D2E2FF8}"/>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4" name="Rectangle 3">
            <a:extLst>
              <a:ext uri="{FF2B5EF4-FFF2-40B4-BE49-F238E27FC236}">
                <a16:creationId xmlns:a16="http://schemas.microsoft.com/office/drawing/2014/main" id="{0CE7D9B3-7728-4DB3-AE57-272F1419F392}"/>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 Type II error occurs when we fail to reject a false null hypothesis. That occurs when a guilty defendant is acquitted.</a:t>
            </a:r>
          </a:p>
          <a:p>
            <a:r>
              <a:rPr lang="en-US" altLang="en-US" sz="2400" dirty="0">
                <a:solidFill>
                  <a:schemeClr val="accent2">
                    <a:lumMod val="75000"/>
                  </a:schemeClr>
                </a:solidFill>
                <a:latin typeface="Times New Roman" panose="02020603050405020304" pitchFamily="18" charset="0"/>
                <a:cs typeface="Times New Roman" panose="02020603050405020304" pitchFamily="18" charset="0"/>
              </a:rPr>
              <a:t>In practice, this type of error is by far the most serious mistake we normally make.  For example, if we test the hypothesis that the amount of medication in a heart pill is equal to a value which will cure your heart problem and “accept the null hypothesis that the amount is ok”.  Later on we find out that the average amount is WAY too large and people die from “too much medication” [I wish we had rejected the hypothesis and threw the pills in the trash can], it’s too late because we shipped the pills to the public.</a:t>
            </a:r>
          </a:p>
        </p:txBody>
      </p:sp>
    </p:spTree>
    <p:extLst>
      <p:ext uri="{BB962C8B-B14F-4D97-AF65-F5344CB8AC3E}">
        <p14:creationId xmlns:p14="http://schemas.microsoft.com/office/powerpoint/2010/main" val="399823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0A6A82E-BD68-4CF6-BE35-BDD4D6F9836D}"/>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5" name="Rectangle 3">
            <a:extLst>
              <a:ext uri="{FF2B5EF4-FFF2-40B4-BE49-F238E27FC236}">
                <a16:creationId xmlns:a16="http://schemas.microsoft.com/office/drawing/2014/main" id="{5207426D-0E61-47AC-8138-17CD44BACA8A}"/>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probability of a Type I error is denoted as </a:t>
            </a:r>
            <a:r>
              <a:rPr lang="el-GR" altLang="en-US" sz="2400" dirty="0">
                <a:solidFill>
                  <a:srgbClr val="D60093"/>
                </a:solidFill>
                <a:latin typeface="Times New Roman" panose="02020603050405020304" pitchFamily="18" charset="0"/>
                <a:cs typeface="Times New Roman" panose="02020603050405020304" pitchFamily="18" charset="0"/>
              </a:rPr>
              <a:t>α</a:t>
            </a:r>
            <a:r>
              <a:rPr lang="en-US" altLang="en-US" sz="2400" dirty="0">
                <a:latin typeface="Times New Roman" panose="02020603050405020304" pitchFamily="18" charset="0"/>
                <a:cs typeface="Times New Roman" panose="02020603050405020304" pitchFamily="18" charset="0"/>
              </a:rPr>
              <a:t> (Greek letter </a:t>
            </a:r>
            <a:r>
              <a:rPr lang="en-US" altLang="en-US" sz="2400" i="1" dirty="0">
                <a:latin typeface="Times New Roman" panose="02020603050405020304" pitchFamily="18" charset="0"/>
                <a:cs typeface="Times New Roman" panose="02020603050405020304" pitchFamily="18" charset="0"/>
              </a:rPr>
              <a:t>alpha</a:t>
            </a:r>
            <a:r>
              <a:rPr lang="en-US" altLang="en-US" sz="2400" dirty="0">
                <a:latin typeface="Times New Roman" panose="02020603050405020304" pitchFamily="18" charset="0"/>
                <a:cs typeface="Times New Roman" panose="02020603050405020304" pitchFamily="18" charset="0"/>
              </a:rPr>
              <a:t>). The probability of a type II error is </a:t>
            </a:r>
            <a:r>
              <a:rPr lang="el-GR" altLang="en-US" sz="2400" dirty="0">
                <a:latin typeface="Times New Roman" panose="02020603050405020304" pitchFamily="18" charset="0"/>
                <a:cs typeface="Times New Roman" panose="02020603050405020304" pitchFamily="18" charset="0"/>
              </a:rPr>
              <a:t>β</a:t>
            </a:r>
            <a:r>
              <a:rPr lang="en-US" altLang="en-US" sz="2400" dirty="0">
                <a:latin typeface="Times New Roman" panose="02020603050405020304" pitchFamily="18" charset="0"/>
                <a:cs typeface="Times New Roman" panose="02020603050405020304" pitchFamily="18" charset="0"/>
              </a:rPr>
              <a:t> (Greek letter </a:t>
            </a:r>
            <a:r>
              <a:rPr lang="en-US" altLang="en-US" sz="2400" i="1" dirty="0">
                <a:latin typeface="Times New Roman" panose="02020603050405020304" pitchFamily="18" charset="0"/>
                <a:cs typeface="Times New Roman" panose="02020603050405020304" pitchFamily="18" charset="0"/>
              </a:rPr>
              <a:t>beta</a:t>
            </a:r>
            <a:r>
              <a:rPr lang="en-US" altLang="en-US" sz="2400" dirty="0">
                <a:latin typeface="Times New Roman" panose="02020603050405020304" pitchFamily="18" charset="0"/>
                <a:cs typeface="Times New Roman" panose="02020603050405020304" pitchFamily="18" charset="0"/>
              </a:rPr>
              <a:t>).</a:t>
            </a:r>
          </a:p>
          <a:p>
            <a:pPr marL="0" indent="0">
              <a:buNone/>
            </a:pP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two probabilities are inversely related. Decreasing one increases the other, for a fixed sample size.</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solidFill>
                  <a:srgbClr val="FF0000"/>
                </a:solidFill>
                <a:latin typeface="Times New Roman" panose="02020603050405020304" pitchFamily="18" charset="0"/>
                <a:cs typeface="Times New Roman" panose="02020603050405020304" pitchFamily="18" charset="0"/>
              </a:rPr>
              <a:t>In other words, you can’t have </a:t>
            </a:r>
            <a:r>
              <a:rPr lang="en-US"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and </a:t>
            </a:r>
            <a:r>
              <a:rPr lang="el-GR"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β</a:t>
            </a:r>
            <a:r>
              <a:rPr lang="en-US"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both real small for any old sample size.  You may have to take a much larger sample size, or in the court example, you need much more evidence.</a:t>
            </a:r>
            <a:endParaRPr lang="el-GR"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a:p>
            <a:endParaRPr lang="en-US" altLang="en-US" sz="2400" dirty="0">
              <a:latin typeface="Times New Roman" panose="02020603050405020304" pitchFamily="18" charset="0"/>
              <a:cs typeface="Times New Roman" panose="02020603050405020304" pitchFamily="18" charset="0"/>
            </a:endParaRPr>
          </a:p>
          <a:p>
            <a:endParaRPr lang="el-GR" altLang="en-US"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427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587E979-1A3A-47BC-884E-A4B7E9301083}"/>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t>Types of Errors…</a:t>
            </a:r>
          </a:p>
        </p:txBody>
      </p:sp>
      <p:sp>
        <p:nvSpPr>
          <p:cNvPr id="4" name="Rectangle 3">
            <a:extLst>
              <a:ext uri="{FF2B5EF4-FFF2-40B4-BE49-F238E27FC236}">
                <a16:creationId xmlns:a16="http://schemas.microsoft.com/office/drawing/2014/main" id="{6706045F-4AE8-4197-9D13-A209A5956BD7}"/>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 Type I error occurs when we </a:t>
            </a:r>
            <a:r>
              <a:rPr lang="en-US" altLang="en-US" sz="2400" b="1" i="1" dirty="0">
                <a:latin typeface="Times New Roman" panose="02020603050405020304" pitchFamily="18" charset="0"/>
                <a:cs typeface="Times New Roman" panose="02020603050405020304" pitchFamily="18" charset="0"/>
              </a:rPr>
              <a:t>reject</a:t>
            </a:r>
            <a:r>
              <a:rPr lang="en-US" altLang="en-US" sz="2400" dirty="0">
                <a:latin typeface="Times New Roman" panose="02020603050405020304" pitchFamily="18" charset="0"/>
                <a:cs typeface="Times New Roman" panose="02020603050405020304" pitchFamily="18" charset="0"/>
              </a:rPr>
              <a:t> a </a:t>
            </a:r>
            <a:r>
              <a:rPr lang="en-US" altLang="en-US" sz="2400" b="1" i="1" dirty="0">
                <a:latin typeface="Times New Roman" panose="02020603050405020304" pitchFamily="18" charset="0"/>
                <a:cs typeface="Times New Roman" panose="02020603050405020304" pitchFamily="18" charset="0"/>
              </a:rPr>
              <a:t>true</a:t>
            </a:r>
            <a:r>
              <a:rPr lang="en-US" altLang="en-US" sz="2400" dirty="0">
                <a:latin typeface="Times New Roman" panose="02020603050405020304" pitchFamily="18" charset="0"/>
                <a:cs typeface="Times New Roman" panose="02020603050405020304" pitchFamily="18" charset="0"/>
              </a:rPr>
              <a:t> null hypothesis (i.e. Reject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when it is TRUE)</a:t>
            </a:r>
          </a:p>
          <a:p>
            <a:endParaRPr lang="en-US" altLang="en-US" sz="2400" dirty="0">
              <a:latin typeface="Times New Roman" panose="02020603050405020304" pitchFamily="18" charset="0"/>
              <a:cs typeface="Times New Roman" panose="02020603050405020304" pitchFamily="18" charset="0"/>
            </a:endParaRPr>
          </a:p>
          <a:p>
            <a:pPr marL="0" indent="0">
              <a:buNone/>
            </a:pP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A Type II error occurs when we </a:t>
            </a:r>
            <a:r>
              <a:rPr lang="en-US" altLang="en-US" sz="2400" b="1" i="1" dirty="0">
                <a:latin typeface="Times New Roman" panose="02020603050405020304" pitchFamily="18" charset="0"/>
                <a:cs typeface="Times New Roman" panose="02020603050405020304" pitchFamily="18" charset="0"/>
              </a:rPr>
              <a:t>fail to reject</a:t>
            </a:r>
            <a:r>
              <a:rPr lang="en-US" altLang="en-US" sz="2400" dirty="0">
                <a:latin typeface="Times New Roman" panose="02020603050405020304" pitchFamily="18" charset="0"/>
                <a:cs typeface="Times New Roman" panose="02020603050405020304" pitchFamily="18" charset="0"/>
              </a:rPr>
              <a:t> a </a:t>
            </a:r>
            <a:r>
              <a:rPr lang="en-US" altLang="en-US" sz="2400" b="1" i="1" dirty="0">
                <a:latin typeface="Times New Roman" panose="02020603050405020304" pitchFamily="18" charset="0"/>
                <a:cs typeface="Times New Roman" panose="02020603050405020304" pitchFamily="18" charset="0"/>
              </a:rPr>
              <a:t>false</a:t>
            </a:r>
            <a:r>
              <a:rPr lang="en-US" altLang="en-US" sz="2400" dirty="0">
                <a:latin typeface="Times New Roman" panose="02020603050405020304" pitchFamily="18" charset="0"/>
                <a:cs typeface="Times New Roman" panose="02020603050405020304" pitchFamily="18" charset="0"/>
              </a:rPr>
              <a:t> null hypothesis (i.e. Do NOT reject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when it is FALSE)</a:t>
            </a:r>
          </a:p>
        </p:txBody>
      </p:sp>
      <p:graphicFrame>
        <p:nvGraphicFramePr>
          <p:cNvPr id="5" name="Group 5">
            <a:extLst>
              <a:ext uri="{FF2B5EF4-FFF2-40B4-BE49-F238E27FC236}">
                <a16:creationId xmlns:a16="http://schemas.microsoft.com/office/drawing/2014/main" id="{AD0ABB0C-6314-4A82-BCB1-B21212D68B4B}"/>
              </a:ext>
            </a:extLst>
          </p:cNvPr>
          <p:cNvGraphicFramePr>
            <a:graphicFrameLocks noGrp="1"/>
          </p:cNvGraphicFramePr>
          <p:nvPr/>
        </p:nvGraphicFramePr>
        <p:xfrm>
          <a:off x="3200400" y="2286000"/>
          <a:ext cx="2743200" cy="2260600"/>
        </p:xfrm>
        <a:graphic>
          <a:graphicData uri="http://schemas.openxmlformats.org/drawingml/2006/table">
            <a:tbl>
              <a:tblPr/>
              <a:tblGrid>
                <a:gridCol w="1336675">
                  <a:extLst>
                    <a:ext uri="{9D8B030D-6E8A-4147-A177-3AD203B41FA5}">
                      <a16:colId xmlns:a16="http://schemas.microsoft.com/office/drawing/2014/main" val="20000"/>
                    </a:ext>
                  </a:extLst>
                </a:gridCol>
                <a:gridCol w="703263">
                  <a:extLst>
                    <a:ext uri="{9D8B030D-6E8A-4147-A177-3AD203B41FA5}">
                      <a16:colId xmlns:a16="http://schemas.microsoft.com/office/drawing/2014/main" val="20001"/>
                    </a:ext>
                  </a:extLst>
                </a:gridCol>
                <a:gridCol w="703262">
                  <a:extLst>
                    <a:ext uri="{9D8B030D-6E8A-4147-A177-3AD203B41FA5}">
                      <a16:colId xmlns:a16="http://schemas.microsoft.com/office/drawing/2014/main" val="20002"/>
                    </a:ext>
                  </a:extLst>
                </a:gridCol>
              </a:tblGrid>
              <a:tr h="752475">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rgbClr val="0000FF"/>
                          </a:solidFill>
                          <a:effectLst/>
                          <a:latin typeface="Tahoma" panose="020B0604030504040204" pitchFamily="34" charset="0"/>
                        </a:rPr>
                        <a:t>H</a:t>
                      </a:r>
                      <a:r>
                        <a:rPr kumimoji="0" lang="en-US" altLang="en-US" sz="2400" b="0" i="0" u="none" strike="noStrike" cap="none" normalizeH="0" baseline="-25000" dirty="0">
                          <a:ln>
                            <a:noFill/>
                          </a:ln>
                          <a:solidFill>
                            <a:srgbClr val="0000FF"/>
                          </a:solidFill>
                          <a:effectLst/>
                          <a:latin typeface="Tahoma" panose="020B0604030504040204" pitchFamily="34" charset="0"/>
                        </a:rPr>
                        <a:t>0</a:t>
                      </a:r>
                      <a:endParaRPr kumimoji="0" lang="en-US" altLang="en-US" sz="2400" b="0" i="0" u="none" strike="noStrike" cap="none" normalizeH="0" baseline="0" dirty="0">
                        <a:ln>
                          <a:noFill/>
                        </a:ln>
                        <a:solidFill>
                          <a:srgbClr val="0000FF"/>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rgbClr val="0000FF"/>
                          </a:solidFill>
                          <a:effectLst/>
                          <a:latin typeface="Tahoma" panose="020B0604030504040204" pitchFamily="34" charset="0"/>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0000FF"/>
                          </a:solidFill>
                          <a:effectLst/>
                          <a:latin typeface="Tahoma" panose="020B0604030504040204" pitchFamily="34"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5650">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rgbClr val="0000FF"/>
                          </a:solidFill>
                          <a:effectLst/>
                          <a:latin typeface="Tahoma" panose="020B0604030504040204" pitchFamily="34" charset="0"/>
                        </a:rPr>
                        <a:t>Reject</a:t>
                      </a:r>
                      <a:endParaRPr kumimoji="0" lang="en-US" altLang="en-US" sz="2400" b="0" i="0" u="none" strike="noStrike" cap="none" normalizeH="0" baseline="0">
                        <a:ln>
                          <a:noFill/>
                        </a:ln>
                        <a:solidFill>
                          <a:srgbClr val="0000FF"/>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rgbClr val="0000FF"/>
                          </a:solidFill>
                          <a:effectLst/>
                          <a:latin typeface="Tahoma" panose="020B0604030504040204" pitchFamily="34"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a:ln>
                          <a:noFill/>
                        </a:ln>
                        <a:solidFill>
                          <a:srgbClr val="0000FF"/>
                        </a:solidFill>
                        <a:effectLst/>
                        <a:latin typeface="Tahoma" panose="020B0604030504040204"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752475">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rgbClr val="0000FF"/>
                          </a:solidFill>
                          <a:effectLst/>
                          <a:latin typeface="Tahoma" panose="020B0604030504040204" pitchFamily="34" charset="0"/>
                        </a:rPr>
                        <a:t>Reject</a:t>
                      </a:r>
                      <a:endParaRPr kumimoji="0" lang="en-US" altLang="en-US" sz="2400" b="0" i="0" u="none" strike="noStrike" cap="none" normalizeH="0" baseline="0">
                        <a:ln>
                          <a:noFill/>
                        </a:ln>
                        <a:solidFill>
                          <a:srgbClr val="0000FF"/>
                        </a:solidFill>
                        <a:effectLst/>
                        <a:latin typeface="Tahoma" panose="020B0604030504040204"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2400" b="0" i="0" u="none" strike="noStrike" cap="none" normalizeH="0" baseline="0">
                        <a:ln>
                          <a:noFill/>
                        </a:ln>
                        <a:solidFill>
                          <a:srgbClr val="0000FF"/>
                        </a:solidFill>
                        <a:effectLst/>
                        <a:latin typeface="Tahoma" panose="020B060403050404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algn="l">
                        <a:spcBef>
                          <a:spcPct val="20000"/>
                        </a:spcBef>
                        <a:defRPr sz="2400">
                          <a:solidFill>
                            <a:schemeClr val="tx1"/>
                          </a:solidFill>
                          <a:latin typeface="Times" panose="02020603050405020304" pitchFamily="18" charset="0"/>
                        </a:defRPr>
                      </a:lvl1pPr>
                      <a:lvl2pPr algn="l">
                        <a:spcBef>
                          <a:spcPct val="20000"/>
                        </a:spcBef>
                        <a:defRPr sz="2000">
                          <a:solidFill>
                            <a:schemeClr val="tx1"/>
                          </a:solidFill>
                          <a:latin typeface="Times" panose="02020603050405020304" pitchFamily="18" charset="0"/>
                        </a:defRPr>
                      </a:lvl2pPr>
                      <a:lvl3pPr algn="l">
                        <a:spcBef>
                          <a:spcPct val="20000"/>
                        </a:spcBef>
                        <a:defRPr>
                          <a:solidFill>
                            <a:schemeClr val="tx1"/>
                          </a:solidFill>
                          <a:latin typeface="Times" panose="02020603050405020304" pitchFamily="18" charset="0"/>
                        </a:defRPr>
                      </a:lvl3pPr>
                      <a:lvl4pPr algn="l">
                        <a:spcBef>
                          <a:spcPct val="20000"/>
                        </a:spcBef>
                        <a:defRPr sz="1600">
                          <a:solidFill>
                            <a:schemeClr val="tx1"/>
                          </a:solidFill>
                          <a:latin typeface="Times" panose="02020603050405020304" pitchFamily="18" charset="0"/>
                        </a:defRPr>
                      </a:lvl4pPr>
                      <a:lvl5pPr algn="l">
                        <a:spcBef>
                          <a:spcPct val="20000"/>
                        </a:spcBef>
                        <a:defRPr sz="1600">
                          <a:solidFill>
                            <a:schemeClr val="tx1"/>
                          </a:solidFill>
                          <a:latin typeface="Times" panose="02020603050405020304" pitchFamily="18" charset="0"/>
                        </a:defRPr>
                      </a:lvl5pPr>
                      <a:lvl6pPr fontAlgn="base">
                        <a:spcBef>
                          <a:spcPct val="20000"/>
                        </a:spcBef>
                        <a:spcAft>
                          <a:spcPct val="0"/>
                        </a:spcAft>
                        <a:defRPr sz="1600">
                          <a:solidFill>
                            <a:schemeClr val="tx1"/>
                          </a:solidFill>
                          <a:latin typeface="Times" panose="02020603050405020304" pitchFamily="18" charset="0"/>
                        </a:defRPr>
                      </a:lvl6pPr>
                      <a:lvl7pPr fontAlgn="base">
                        <a:spcBef>
                          <a:spcPct val="20000"/>
                        </a:spcBef>
                        <a:spcAft>
                          <a:spcPct val="0"/>
                        </a:spcAft>
                        <a:defRPr sz="1600">
                          <a:solidFill>
                            <a:schemeClr val="tx1"/>
                          </a:solidFill>
                          <a:latin typeface="Times" panose="02020603050405020304" pitchFamily="18" charset="0"/>
                        </a:defRPr>
                      </a:lvl7pPr>
                      <a:lvl8pPr fontAlgn="base">
                        <a:spcBef>
                          <a:spcPct val="20000"/>
                        </a:spcBef>
                        <a:spcAft>
                          <a:spcPct val="0"/>
                        </a:spcAft>
                        <a:defRPr sz="1600">
                          <a:solidFill>
                            <a:schemeClr val="tx1"/>
                          </a:solidFill>
                          <a:latin typeface="Times" panose="02020603050405020304" pitchFamily="18" charset="0"/>
                        </a:defRPr>
                      </a:lvl8pPr>
                      <a:lvl9pPr fontAlgn="base">
                        <a:spcBef>
                          <a:spcPct val="20000"/>
                        </a:spcBef>
                        <a:spcAft>
                          <a:spcPct val="0"/>
                        </a:spcAft>
                        <a:defRPr sz="1600">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rgbClr val="0000FF"/>
                          </a:solidFill>
                          <a:effectLst/>
                          <a:latin typeface="Tahoma" panose="020B0604030504040204" pitchFamily="34" charset="0"/>
                        </a:rPr>
                        <a:t>II</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Freeform 23">
            <a:extLst>
              <a:ext uri="{FF2B5EF4-FFF2-40B4-BE49-F238E27FC236}">
                <a16:creationId xmlns:a16="http://schemas.microsoft.com/office/drawing/2014/main" id="{C7672300-9D3F-4103-8503-F1CEB26A3E85}"/>
              </a:ext>
            </a:extLst>
          </p:cNvPr>
          <p:cNvSpPr>
            <a:spLocks/>
          </p:cNvSpPr>
          <p:nvPr/>
        </p:nvSpPr>
        <p:spPr bwMode="auto">
          <a:xfrm>
            <a:off x="5029200" y="1676400"/>
            <a:ext cx="2971800" cy="1763332"/>
          </a:xfrm>
          <a:custGeom>
            <a:avLst/>
            <a:gdLst>
              <a:gd name="T0" fmla="*/ 0 w 1632"/>
              <a:gd name="T1" fmla="*/ 0 h 1104"/>
              <a:gd name="T2" fmla="*/ 2147483646 w 1632"/>
              <a:gd name="T3" fmla="*/ 2147483646 h 1104"/>
              <a:gd name="T4" fmla="*/ 0 w 1632"/>
              <a:gd name="T5" fmla="*/ 2147483646 h 1104"/>
              <a:gd name="T6" fmla="*/ 0 60000 65536"/>
              <a:gd name="T7" fmla="*/ 0 60000 65536"/>
              <a:gd name="T8" fmla="*/ 0 60000 65536"/>
            </a:gdLst>
            <a:ahLst/>
            <a:cxnLst>
              <a:cxn ang="T6">
                <a:pos x="T0" y="T1"/>
              </a:cxn>
              <a:cxn ang="T7">
                <a:pos x="T2" y="T3"/>
              </a:cxn>
              <a:cxn ang="T8">
                <a:pos x="T4" y="T5"/>
              </a:cxn>
            </a:cxnLst>
            <a:rect l="0" t="0" r="r" b="b"/>
            <a:pathLst>
              <a:path w="1632" h="1104">
                <a:moveTo>
                  <a:pt x="0" y="0"/>
                </a:moveTo>
                <a:cubicBezTo>
                  <a:pt x="816" y="268"/>
                  <a:pt x="1632" y="536"/>
                  <a:pt x="1632" y="720"/>
                </a:cubicBezTo>
                <a:cubicBezTo>
                  <a:pt x="1632" y="904"/>
                  <a:pt x="816" y="1004"/>
                  <a:pt x="0" y="1104"/>
                </a:cubicBezTo>
              </a:path>
            </a:pathLst>
          </a:custGeom>
          <a:noFill/>
          <a:ln w="9525" cap="flat" cmpd="sng">
            <a:solidFill>
              <a:srgbClr val="0000FF"/>
            </a:solidFill>
            <a:prstDash val="solid"/>
            <a:round/>
            <a:headEnd/>
            <a:tailEnd type="arrow"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Freeform 25">
            <a:extLst>
              <a:ext uri="{FF2B5EF4-FFF2-40B4-BE49-F238E27FC236}">
                <a16:creationId xmlns:a16="http://schemas.microsoft.com/office/drawing/2014/main" id="{3C4A410D-9A2A-4894-A5A5-B6C53C68E7AD}"/>
              </a:ext>
            </a:extLst>
          </p:cNvPr>
          <p:cNvSpPr>
            <a:spLocks/>
          </p:cNvSpPr>
          <p:nvPr/>
        </p:nvSpPr>
        <p:spPr bwMode="auto">
          <a:xfrm>
            <a:off x="5791200" y="4267200"/>
            <a:ext cx="762000" cy="609600"/>
          </a:xfrm>
          <a:custGeom>
            <a:avLst/>
            <a:gdLst>
              <a:gd name="T0" fmla="*/ 2147483646 w 1056"/>
              <a:gd name="T1" fmla="*/ 2147483646 h 768"/>
              <a:gd name="T2" fmla="*/ 2147483646 w 1056"/>
              <a:gd name="T3" fmla="*/ 2147483646 h 768"/>
              <a:gd name="T4" fmla="*/ 2147483646 w 1056"/>
              <a:gd name="T5" fmla="*/ 2147483646 h 768"/>
              <a:gd name="T6" fmla="*/ 0 w 1056"/>
              <a:gd name="T7" fmla="*/ 0 h 7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56" h="768">
                <a:moveTo>
                  <a:pt x="1056" y="768"/>
                </a:moveTo>
                <a:cubicBezTo>
                  <a:pt x="760" y="652"/>
                  <a:pt x="464" y="536"/>
                  <a:pt x="432" y="480"/>
                </a:cubicBezTo>
                <a:cubicBezTo>
                  <a:pt x="400" y="424"/>
                  <a:pt x="936" y="512"/>
                  <a:pt x="864" y="432"/>
                </a:cubicBezTo>
                <a:cubicBezTo>
                  <a:pt x="792" y="352"/>
                  <a:pt x="396" y="176"/>
                  <a:pt x="0" y="0"/>
                </a:cubicBezTo>
              </a:path>
            </a:pathLst>
          </a:custGeom>
          <a:noFill/>
          <a:ln w="9525" cap="flat" cmpd="sng">
            <a:solidFill>
              <a:srgbClr val="0000FF"/>
            </a:solidFill>
            <a:prstDash val="solid"/>
            <a:round/>
            <a:headEnd/>
            <a:tailEnd type="arrow"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3" name="Picture 12">
            <a:extLst>
              <a:ext uri="{FF2B5EF4-FFF2-40B4-BE49-F238E27FC236}">
                <a16:creationId xmlns:a16="http://schemas.microsoft.com/office/drawing/2014/main" id="{5EA9BFED-EAEA-4568-BBDE-4F94AEBDB83C}"/>
              </a:ext>
            </a:extLst>
          </p:cNvPr>
          <p:cNvPicPr>
            <a:picLocks noChangeAspect="1"/>
          </p:cNvPicPr>
          <p:nvPr/>
        </p:nvPicPr>
        <p:blipFill>
          <a:blip r:embed="rId2"/>
          <a:stretch>
            <a:fillRect/>
          </a:stretch>
        </p:blipFill>
        <p:spPr>
          <a:xfrm>
            <a:off x="3213279" y="3810000"/>
            <a:ext cx="1295400" cy="704045"/>
          </a:xfrm>
          <a:prstGeom prst="rect">
            <a:avLst/>
          </a:prstGeom>
        </p:spPr>
      </p:pic>
    </p:spTree>
    <p:extLst>
      <p:ext uri="{BB962C8B-B14F-4D97-AF65-F5344CB8AC3E}">
        <p14:creationId xmlns:p14="http://schemas.microsoft.com/office/powerpoint/2010/main" val="2324442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BFC902-490B-4779-892D-71FA50DE47E4}"/>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Nonstatistical Hypothesis Testing…</a:t>
            </a:r>
          </a:p>
        </p:txBody>
      </p:sp>
      <p:sp>
        <p:nvSpPr>
          <p:cNvPr id="4" name="Rectangle 3">
            <a:extLst>
              <a:ext uri="{FF2B5EF4-FFF2-40B4-BE49-F238E27FC236}">
                <a16:creationId xmlns:a16="http://schemas.microsoft.com/office/drawing/2014/main" id="{BA53B875-C9BF-49EC-A6E4-BA0AEE06C407}"/>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r>
              <a:rPr lang="en-US" altLang="en-US" sz="2400" dirty="0">
                <a:latin typeface="Times New Roman" panose="02020603050405020304" pitchFamily="18" charset="0"/>
                <a:cs typeface="Times New Roman" panose="02020603050405020304" pitchFamily="18" charset="0"/>
              </a:rPr>
              <a:t>The critical concepts are theses:</a:t>
            </a:r>
          </a:p>
          <a:p>
            <a:pPr marL="533400" indent="-533400"/>
            <a:r>
              <a:rPr lang="en-US" altLang="en-US" sz="2400" dirty="0">
                <a:latin typeface="Times New Roman" panose="02020603050405020304" pitchFamily="18" charset="0"/>
                <a:cs typeface="Times New Roman" panose="02020603050405020304" pitchFamily="18" charset="0"/>
              </a:rPr>
              <a:t>There are two hypotheses, the null and the alternative hypotheses.</a:t>
            </a:r>
          </a:p>
          <a:p>
            <a:pPr marL="533400" indent="-533400"/>
            <a:r>
              <a:rPr lang="en-US" altLang="en-US" sz="2400" dirty="0">
                <a:solidFill>
                  <a:srgbClr val="FF0000"/>
                </a:solidFill>
                <a:latin typeface="Times New Roman" panose="02020603050405020304" pitchFamily="18" charset="0"/>
                <a:cs typeface="Times New Roman" panose="02020603050405020304" pitchFamily="18" charset="0"/>
              </a:rPr>
              <a:t>The procedure begins with the assumption that the null hypothesis is true.</a:t>
            </a:r>
          </a:p>
          <a:p>
            <a:pPr marL="533400" indent="-533400"/>
            <a:r>
              <a:rPr lang="en-US" altLang="en-US" sz="2400" dirty="0">
                <a:latin typeface="Times New Roman" panose="02020603050405020304" pitchFamily="18" charset="0"/>
                <a:cs typeface="Times New Roman" panose="02020603050405020304" pitchFamily="18" charset="0"/>
              </a:rPr>
              <a:t>The goal is to determine whether there is enough evidence to infer that the alternative hypothesis is true, or </a:t>
            </a:r>
            <a:r>
              <a:rPr lang="en-US" altLang="en-US" sz="2400" dirty="0">
                <a:solidFill>
                  <a:srgbClr val="FF0000"/>
                </a:solidFill>
                <a:latin typeface="Times New Roman" panose="02020603050405020304" pitchFamily="18" charset="0"/>
                <a:cs typeface="Times New Roman" panose="02020603050405020304" pitchFamily="18" charset="0"/>
              </a:rPr>
              <a:t>the null is not likely to be true.</a:t>
            </a:r>
          </a:p>
          <a:p>
            <a:pPr marL="533400" indent="-533400"/>
            <a:r>
              <a:rPr lang="en-US" altLang="en-US" sz="2400" dirty="0">
                <a:latin typeface="Times New Roman" panose="02020603050405020304" pitchFamily="18" charset="0"/>
                <a:cs typeface="Times New Roman" panose="02020603050405020304" pitchFamily="18" charset="0"/>
              </a:rPr>
              <a:t>There are two possible decisions:</a:t>
            </a:r>
          </a:p>
          <a:p>
            <a:pPr marL="533400" indent="-533400"/>
            <a:r>
              <a:rPr lang="en-US" altLang="en-US" sz="2400" dirty="0">
                <a:latin typeface="Times New Roman" panose="02020603050405020304" pitchFamily="18" charset="0"/>
                <a:cs typeface="Times New Roman" panose="02020603050405020304" pitchFamily="18" charset="0"/>
              </a:rPr>
              <a:t>	Conclude that there is enough evidence to support the alternative hypothesis. </a:t>
            </a:r>
            <a:r>
              <a:rPr lang="en-US" altLang="en-US" sz="2400" dirty="0">
                <a:solidFill>
                  <a:srgbClr val="FF0000"/>
                </a:solidFill>
                <a:latin typeface="Times New Roman" panose="02020603050405020304" pitchFamily="18" charset="0"/>
                <a:cs typeface="Times New Roman" panose="02020603050405020304" pitchFamily="18" charset="0"/>
              </a:rPr>
              <a:t>Reject the null.</a:t>
            </a:r>
            <a:endParaRPr lang="en-US" altLang="en-US" sz="2400" dirty="0">
              <a:latin typeface="Times New Roman" panose="02020603050405020304" pitchFamily="18" charset="0"/>
              <a:cs typeface="Times New Roman" panose="02020603050405020304" pitchFamily="18" charset="0"/>
            </a:endParaRPr>
          </a:p>
          <a:p>
            <a:pPr marL="533400" indent="-533400"/>
            <a:r>
              <a:rPr lang="en-US" altLang="en-US" sz="2400" dirty="0">
                <a:latin typeface="Times New Roman" panose="02020603050405020304" pitchFamily="18" charset="0"/>
                <a:cs typeface="Times New Roman" panose="02020603050405020304" pitchFamily="18" charset="0"/>
              </a:rPr>
              <a:t>	Conclude that there is </a:t>
            </a:r>
            <a:r>
              <a:rPr lang="en-US" altLang="en-US" sz="2400" i="1" dirty="0">
                <a:latin typeface="Times New Roman" panose="02020603050405020304" pitchFamily="18" charset="0"/>
                <a:cs typeface="Times New Roman" panose="02020603050405020304" pitchFamily="18" charset="0"/>
              </a:rPr>
              <a:t>not </a:t>
            </a:r>
            <a:r>
              <a:rPr lang="en-US" altLang="en-US" sz="2400" dirty="0">
                <a:latin typeface="Times New Roman" panose="02020603050405020304" pitchFamily="18" charset="0"/>
                <a:cs typeface="Times New Roman" panose="02020603050405020304" pitchFamily="18" charset="0"/>
              </a:rPr>
              <a:t>enough evidence to support the alternative hypothesis. </a:t>
            </a:r>
            <a:r>
              <a:rPr lang="en-US" altLang="en-US" sz="2400" dirty="0">
                <a:solidFill>
                  <a:srgbClr val="FF0000"/>
                </a:solidFill>
                <a:latin typeface="Times New Roman" panose="02020603050405020304" pitchFamily="18" charset="0"/>
                <a:cs typeface="Times New Roman" panose="02020603050405020304" pitchFamily="18" charset="0"/>
              </a:rPr>
              <a:t>Fail to reject the null.</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315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3428AEB-8C0B-42BB-AE4E-F030B619EC71}"/>
              </a:ext>
            </a:extLst>
          </p:cNvPr>
          <p:cNvSpPr txBox="1">
            <a:spLocks noChangeArrowheads="1"/>
          </p:cNvSpPr>
          <p:nvPr/>
        </p:nvSpPr>
        <p:spPr>
          <a:xfrm>
            <a:off x="228600" y="152400"/>
            <a:ext cx="86106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600" b="1" u="sng" dirty="0"/>
              <a:t>Concepts of Hypothesis Testing (1)…</a:t>
            </a:r>
          </a:p>
        </p:txBody>
      </p:sp>
      <p:sp>
        <p:nvSpPr>
          <p:cNvPr id="5" name="Rectangle 3">
            <a:extLst>
              <a:ext uri="{FF2B5EF4-FFF2-40B4-BE49-F238E27FC236}">
                <a16:creationId xmlns:a16="http://schemas.microsoft.com/office/drawing/2014/main" id="{F80C1BBF-FF51-4D31-A773-04C585F244F7}"/>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a:t>
            </a:r>
            <a:r>
              <a:rPr lang="en-US" altLang="en-US" sz="2400" b="1" dirty="0">
                <a:solidFill>
                  <a:srgbClr val="FF0000"/>
                </a:solidFill>
                <a:latin typeface="Times New Roman" panose="02020603050405020304" pitchFamily="18" charset="0"/>
                <a:cs typeface="Times New Roman" panose="02020603050405020304" pitchFamily="18" charset="0"/>
              </a:rPr>
              <a:t>two</a:t>
            </a:r>
            <a:r>
              <a:rPr lang="en-US" altLang="en-US" sz="2400" dirty="0">
                <a:latin typeface="Times New Roman" panose="02020603050405020304" pitchFamily="18" charset="0"/>
                <a:cs typeface="Times New Roman" panose="02020603050405020304" pitchFamily="18" charset="0"/>
              </a:rPr>
              <a:t> hypotheses are called the </a:t>
            </a:r>
            <a:r>
              <a:rPr lang="en-US" altLang="en-US" sz="2400" b="1" i="1" dirty="0">
                <a:latin typeface="Times New Roman" panose="02020603050405020304" pitchFamily="18" charset="0"/>
                <a:cs typeface="Times New Roman" panose="02020603050405020304" pitchFamily="18" charset="0"/>
              </a:rPr>
              <a:t>null hypothesis</a:t>
            </a:r>
            <a:r>
              <a:rPr lang="en-US" altLang="en-US" sz="2400" dirty="0">
                <a:latin typeface="Times New Roman" panose="02020603050405020304" pitchFamily="18" charset="0"/>
                <a:cs typeface="Times New Roman" panose="02020603050405020304" pitchFamily="18" charset="0"/>
              </a:rPr>
              <a:t> and the other the </a:t>
            </a:r>
            <a:r>
              <a:rPr lang="en-US" altLang="en-US" sz="2400" b="1" i="1" dirty="0">
                <a:latin typeface="Times New Roman" panose="02020603050405020304" pitchFamily="18" charset="0"/>
                <a:cs typeface="Times New Roman" panose="02020603050405020304" pitchFamily="18" charset="0"/>
              </a:rPr>
              <a:t>alternative</a:t>
            </a:r>
            <a:r>
              <a:rPr lang="en-US" altLang="en-US" sz="2400" dirty="0">
                <a:latin typeface="Times New Roman" panose="02020603050405020304" pitchFamily="18" charset="0"/>
                <a:cs typeface="Times New Roman" panose="02020603050405020304" pitchFamily="18" charset="0"/>
              </a:rPr>
              <a:t> or </a:t>
            </a:r>
            <a:r>
              <a:rPr lang="en-US" altLang="en-US" sz="2400" b="1" i="1" dirty="0">
                <a:latin typeface="Times New Roman" panose="02020603050405020304" pitchFamily="18" charset="0"/>
                <a:cs typeface="Times New Roman" panose="02020603050405020304" pitchFamily="18" charset="0"/>
              </a:rPr>
              <a:t>research hypothesis</a:t>
            </a:r>
            <a:r>
              <a:rPr lang="en-US" altLang="en-US" sz="2400" dirty="0">
                <a:latin typeface="Times New Roman" panose="02020603050405020304" pitchFamily="18" charset="0"/>
                <a:cs typeface="Times New Roman" panose="02020603050405020304" pitchFamily="18" charset="0"/>
              </a:rPr>
              <a:t>. The usual notation is:</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 </a:t>
            </a:r>
            <a:r>
              <a:rPr lang="en-US" altLang="en-US" sz="2400" i="1" dirty="0">
                <a:latin typeface="Times New Roman" panose="02020603050405020304" pitchFamily="18" charset="0"/>
                <a:cs typeface="Times New Roman" panose="02020603050405020304" pitchFamily="18" charset="0"/>
              </a:rPr>
              <a:t>the null hypothesis</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 </a:t>
            </a:r>
            <a:r>
              <a:rPr lang="en-US" altLang="en-US" sz="2400" i="1" dirty="0">
                <a:latin typeface="Times New Roman" panose="02020603050405020304" pitchFamily="18" charset="0"/>
                <a:cs typeface="Times New Roman" panose="02020603050405020304" pitchFamily="18" charset="0"/>
              </a:rPr>
              <a:t>the alternative hypothesis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null hypothesis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will always state that the </a:t>
            </a:r>
            <a:r>
              <a:rPr lang="en-US" altLang="en-US" sz="2400" b="1" i="1" dirty="0">
                <a:solidFill>
                  <a:srgbClr val="FF0000"/>
                </a:solidFill>
                <a:latin typeface="Times New Roman" panose="02020603050405020304" pitchFamily="18" charset="0"/>
                <a:cs typeface="Times New Roman" panose="02020603050405020304" pitchFamily="18" charset="0"/>
              </a:rPr>
              <a:t>parameter </a:t>
            </a:r>
            <a:r>
              <a:rPr lang="en-US" altLang="en-US" sz="2400" b="1" i="1" u="sng" dirty="0">
                <a:solidFill>
                  <a:srgbClr val="FF0000"/>
                </a:solidFill>
                <a:latin typeface="Times New Roman" panose="02020603050405020304" pitchFamily="18" charset="0"/>
                <a:cs typeface="Times New Roman" panose="02020603050405020304" pitchFamily="18" charset="0"/>
              </a:rPr>
              <a:t>equals</a:t>
            </a:r>
            <a:r>
              <a:rPr lang="en-US" altLang="en-US" sz="2400" b="1" i="1" dirty="0">
                <a:solidFill>
                  <a:srgbClr val="FF0000"/>
                </a:solidFill>
                <a:latin typeface="Times New Roman" panose="02020603050405020304" pitchFamily="18" charset="0"/>
                <a:cs typeface="Times New Roman" panose="02020603050405020304" pitchFamily="18" charset="0"/>
              </a:rPr>
              <a:t> the value</a:t>
            </a:r>
            <a:r>
              <a:rPr lang="en-US" altLang="en-US" sz="2400" dirty="0">
                <a:latin typeface="Times New Roman" panose="02020603050405020304" pitchFamily="18" charset="0"/>
                <a:cs typeface="Times New Roman" panose="02020603050405020304" pitchFamily="18" charset="0"/>
              </a:rPr>
              <a:t> specified in the alternative hypothesis (H</a:t>
            </a:r>
            <a:r>
              <a:rPr lang="en-US" altLang="en-US" sz="2400" baseline="-250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a:t>
            </a:r>
          </a:p>
        </p:txBody>
      </p:sp>
      <p:sp>
        <p:nvSpPr>
          <p:cNvPr id="6" name="AutoShape 4">
            <a:extLst>
              <a:ext uri="{FF2B5EF4-FFF2-40B4-BE49-F238E27FC236}">
                <a16:creationId xmlns:a16="http://schemas.microsoft.com/office/drawing/2014/main" id="{9790D3F1-12D0-4949-BAC0-F34EC8FF0804}"/>
              </a:ext>
            </a:extLst>
          </p:cNvPr>
          <p:cNvSpPr>
            <a:spLocks noChangeArrowheads="1"/>
          </p:cNvSpPr>
          <p:nvPr/>
        </p:nvSpPr>
        <p:spPr bwMode="auto">
          <a:xfrm>
            <a:off x="1752600" y="1905000"/>
            <a:ext cx="1600200" cy="609600"/>
          </a:xfrm>
          <a:prstGeom prst="wedgeRoundRectCallout">
            <a:avLst>
              <a:gd name="adj1" fmla="val -57440"/>
              <a:gd name="adj2" fmla="val 85940"/>
              <a:gd name="adj3" fmla="val 16667"/>
            </a:avLst>
          </a:prstGeom>
          <a:solidFill>
            <a:srgbClr val="99CC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eaLnBrk="1" hangingPunct="1"/>
            <a:r>
              <a:rPr lang="en-US" altLang="en-US" sz="1800" dirty="0">
                <a:solidFill>
                  <a:srgbClr val="0000FF"/>
                </a:solidFill>
                <a:latin typeface="Tahoma" panose="020B0604030504040204" pitchFamily="34" charset="0"/>
              </a:rPr>
              <a:t>pronounced</a:t>
            </a:r>
          </a:p>
          <a:p>
            <a:pPr algn="ctr" eaLnBrk="1" hangingPunct="1"/>
            <a:r>
              <a:rPr lang="en-US" altLang="en-US" sz="1800" dirty="0">
                <a:solidFill>
                  <a:srgbClr val="0000FF"/>
                </a:solidFill>
                <a:latin typeface="Tahoma" panose="020B0604030504040204" pitchFamily="34" charset="0"/>
              </a:rPr>
              <a:t>H “</a:t>
            </a:r>
            <a:r>
              <a:rPr lang="en-US" altLang="en-US" sz="1800" dirty="0" err="1">
                <a:solidFill>
                  <a:srgbClr val="0000FF"/>
                </a:solidFill>
                <a:latin typeface="Tahoma" panose="020B0604030504040204" pitchFamily="34" charset="0"/>
              </a:rPr>
              <a:t>nought</a:t>
            </a:r>
            <a:r>
              <a:rPr lang="en-US" altLang="en-US" sz="1800" dirty="0">
                <a:solidFill>
                  <a:srgbClr val="0000FF"/>
                </a:solidFill>
                <a:latin typeface="Tahoma" panose="020B0604030504040204" pitchFamily="34" charset="0"/>
              </a:rPr>
              <a:t>”</a:t>
            </a:r>
          </a:p>
        </p:txBody>
      </p:sp>
    </p:spTree>
    <p:extLst>
      <p:ext uri="{BB962C8B-B14F-4D97-AF65-F5344CB8AC3E}">
        <p14:creationId xmlns:p14="http://schemas.microsoft.com/office/powerpoint/2010/main" val="4124876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EA968A8-D4AD-4A78-8FDD-102701FCFB22}"/>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endParaRPr lang="en-US" altLang="en-US" sz="3200" b="1" u="sng" dirty="0"/>
          </a:p>
        </p:txBody>
      </p:sp>
      <p:sp>
        <p:nvSpPr>
          <p:cNvPr id="5" name="Rectangle 3">
            <a:extLst>
              <a:ext uri="{FF2B5EF4-FFF2-40B4-BE49-F238E27FC236}">
                <a16:creationId xmlns:a16="http://schemas.microsoft.com/office/drawing/2014/main" id="{4D0347CD-C685-4177-B5B4-1D07B5B0378B}"/>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90000"/>
              </a:lnSpc>
            </a:pPr>
            <a:r>
              <a:rPr lang="en-US" altLang="en-US" sz="2400" dirty="0">
                <a:latin typeface="Times New Roman" panose="02020603050405020304" pitchFamily="18" charset="0"/>
                <a:cs typeface="Times New Roman" panose="02020603050405020304" pitchFamily="18" charset="0"/>
              </a:rPr>
              <a:t>Consider the average or mean demand for computers during assembly lead time. Rather than estimate the mean demand, our operations manager wants to know </a:t>
            </a:r>
            <a:r>
              <a:rPr lang="en-US" altLang="en-US" sz="2400" b="1" i="1" dirty="0">
                <a:latin typeface="Times New Roman" panose="02020603050405020304" pitchFamily="18" charset="0"/>
                <a:cs typeface="Times New Roman" panose="02020603050405020304" pitchFamily="18" charset="0"/>
              </a:rPr>
              <a:t>whether the mean is different from 350 units</a:t>
            </a:r>
            <a:r>
              <a:rPr lang="en-US" altLang="en-US" sz="2400" dirty="0">
                <a:latin typeface="Times New Roman" panose="02020603050405020304" pitchFamily="18" charset="0"/>
                <a:cs typeface="Times New Roman" panose="02020603050405020304" pitchFamily="18" charset="0"/>
              </a:rPr>
              <a:t>. In other words, someone is claiming that the mean time is 350 units and we want to check this claim out to see if it appears reasonable. We can rephrase this request into a test of the hypothesis: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 350 units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Thus, our research hypothesis becomes: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 350 units</a:t>
            </a:r>
          </a:p>
          <a:p>
            <a:pPr eaLnBrk="1" hangingPunct="1">
              <a:lnSpc>
                <a:spcPct val="90000"/>
              </a:lnSpc>
            </a:pPr>
            <a:r>
              <a:rPr lang="en-US" altLang="en-US" sz="2400" dirty="0">
                <a:latin typeface="Times New Roman" panose="02020603050405020304" pitchFamily="18" charset="0"/>
                <a:cs typeface="Times New Roman" panose="02020603050405020304" pitchFamily="18" charset="0"/>
              </a:rPr>
              <a:t>This will be a two-sided test.</a:t>
            </a:r>
          </a:p>
          <a:p>
            <a:pPr eaLnBrk="1" hangingPunct="1">
              <a:lnSpc>
                <a:spcPct val="90000"/>
              </a:lnSpc>
            </a:pPr>
            <a:r>
              <a:rPr lang="en-US" altLang="en-US" sz="2400" dirty="0">
                <a:solidFill>
                  <a:srgbClr val="FF0000"/>
                </a:solidFill>
                <a:latin typeface="Times New Roman" panose="02020603050405020304" pitchFamily="18" charset="0"/>
                <a:cs typeface="Times New Roman" panose="02020603050405020304" pitchFamily="18" charset="0"/>
              </a:rPr>
              <a:t>The standard deviation </a:t>
            </a:r>
            <a:r>
              <a:rPr lang="el-GR" altLang="en-US" sz="2400" dirty="0">
                <a:latin typeface="Times New Roman" panose="02020603050405020304" pitchFamily="18" charset="0"/>
                <a:cs typeface="Times New Roman" panose="02020603050405020304" pitchFamily="18" charset="0"/>
              </a:rPr>
              <a:t>σ</a:t>
            </a:r>
            <a:r>
              <a:rPr lang="en-US" altLang="en-US" sz="2400" dirty="0">
                <a:solidFill>
                  <a:srgbClr val="FF0000"/>
                </a:solidFill>
                <a:latin typeface="Times New Roman" panose="02020603050405020304" pitchFamily="18" charset="0"/>
                <a:cs typeface="Times New Roman" panose="02020603050405020304" pitchFamily="18" charset="0"/>
              </a:rPr>
              <a:t> is to be </a:t>
            </a:r>
            <a:r>
              <a:rPr lang="en-US" altLang="en-US" sz="2400" dirty="0">
                <a:latin typeface="Times New Roman" panose="02020603050405020304" pitchFamily="18" charset="0"/>
                <a:cs typeface="Times New Roman" panose="02020603050405020304" pitchFamily="18" charset="0"/>
              </a:rPr>
              <a:t>75</a:t>
            </a:r>
            <a:r>
              <a:rPr lang="en-US" altLang="en-US" sz="2400" dirty="0">
                <a:solidFill>
                  <a:srgbClr val="FF0000"/>
                </a:solidFill>
                <a:latin typeface="Times New Roman" panose="02020603050405020304" pitchFamily="18" charset="0"/>
                <a:cs typeface="Times New Roman" panose="02020603050405020304" pitchFamily="18" charset="0"/>
              </a:rPr>
              <a:t>, the sample size </a:t>
            </a:r>
            <a:r>
              <a:rPr lang="en-US" altLang="en-US" sz="2400" dirty="0">
                <a:latin typeface="Times New Roman" panose="02020603050405020304" pitchFamily="18" charset="0"/>
                <a:cs typeface="Times New Roman" panose="02020603050405020304" pitchFamily="18" charset="0"/>
              </a:rPr>
              <a:t>n</a:t>
            </a:r>
            <a:r>
              <a:rPr lang="en-US" altLang="en-US" sz="2400" dirty="0">
                <a:solidFill>
                  <a:srgbClr val="FF0000"/>
                </a:solidFill>
                <a:latin typeface="Times New Roman" panose="02020603050405020304" pitchFamily="18" charset="0"/>
                <a:cs typeface="Times New Roman" panose="02020603050405020304" pitchFamily="18" charset="0"/>
              </a:rPr>
              <a:t> is </a:t>
            </a:r>
            <a:r>
              <a:rPr lang="en-US" altLang="en-US" sz="2400" dirty="0">
                <a:latin typeface="Times New Roman" panose="02020603050405020304" pitchFamily="18" charset="0"/>
                <a:cs typeface="Times New Roman" panose="02020603050405020304" pitchFamily="18" charset="0"/>
              </a:rPr>
              <a:t>25</a:t>
            </a:r>
            <a:r>
              <a:rPr lang="en-US" altLang="en-US" sz="2400" dirty="0">
                <a:solidFill>
                  <a:srgbClr val="FF0000"/>
                </a:solidFill>
                <a:latin typeface="Times New Roman" panose="02020603050405020304" pitchFamily="18" charset="0"/>
                <a:cs typeface="Times New Roman" panose="02020603050405020304" pitchFamily="18" charset="0"/>
              </a:rPr>
              <a:t>, and the sample mean      is </a:t>
            </a:r>
            <a:r>
              <a:rPr lang="en-US" altLang="en-US" sz="2400" dirty="0">
                <a:latin typeface="Times New Roman" panose="02020603050405020304" pitchFamily="18" charset="0"/>
                <a:cs typeface="Times New Roman" panose="02020603050405020304" pitchFamily="18" charset="0"/>
              </a:rPr>
              <a:t>370.16</a:t>
            </a:r>
          </a:p>
          <a:p>
            <a:pPr marL="533400" indent="-533400"/>
            <a:endParaRPr lang="en-US" altLang="en-US" sz="24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8FA4728A-D9E2-4960-9F43-13CF60B68F5F}"/>
              </a:ext>
            </a:extLst>
          </p:cNvPr>
          <p:cNvSpPr txBox="1">
            <a:spLocks noChangeArrowheads="1"/>
          </p:cNvSpPr>
          <p:nvPr/>
        </p:nvSpPr>
        <p:spPr>
          <a:xfrm>
            <a:off x="311150" y="116983"/>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t>Concepts of Hypothesis Testing…</a:t>
            </a:r>
          </a:p>
        </p:txBody>
      </p:sp>
      <p:pic>
        <p:nvPicPr>
          <p:cNvPr id="7" name="Picture 4">
            <a:extLst>
              <a:ext uri="{FF2B5EF4-FFF2-40B4-BE49-F238E27FC236}">
                <a16:creationId xmlns:a16="http://schemas.microsoft.com/office/drawing/2014/main" id="{5F3B2071-DFED-4401-9A5E-C85FB7633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167" y="3352801"/>
            <a:ext cx="27469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AB1DC5F8-9DB8-4B53-B752-40E2FADC60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167" y="4191000"/>
            <a:ext cx="274696"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a:extLst>
              <a:ext uri="{FF2B5EF4-FFF2-40B4-BE49-F238E27FC236}">
                <a16:creationId xmlns:a16="http://schemas.microsoft.com/office/drawing/2014/main" id="{F2AC2999-CB2A-4F89-AD4D-1F30F636D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5257800"/>
            <a:ext cx="304800" cy="3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569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87E9EF1-5974-4019-BB62-82F70BADE421}"/>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t>Concepts of Hypothesis Testing…</a:t>
            </a:r>
          </a:p>
        </p:txBody>
      </p:sp>
      <p:sp>
        <p:nvSpPr>
          <p:cNvPr id="6" name="TextBox 5">
            <a:extLst>
              <a:ext uri="{FF2B5EF4-FFF2-40B4-BE49-F238E27FC236}">
                <a16:creationId xmlns:a16="http://schemas.microsoft.com/office/drawing/2014/main" id="{FCCD2DA9-5551-4B2A-A776-8483B7BC31B7}"/>
              </a:ext>
            </a:extLst>
          </p:cNvPr>
          <p:cNvSpPr txBox="1"/>
          <p:nvPr/>
        </p:nvSpPr>
        <p:spPr>
          <a:xfrm>
            <a:off x="381000" y="1524000"/>
            <a:ext cx="8382000" cy="2308324"/>
          </a:xfrm>
          <a:prstGeom prst="rect">
            <a:avLst/>
          </a:prstGeom>
          <a:noFill/>
        </p:spPr>
        <p:txBody>
          <a:bodyPr wrap="square">
            <a:spAutoFit/>
          </a:bodyPr>
          <a:lstStyle/>
          <a:p>
            <a:pPr eaLnBrk="1" hangingPunct="1"/>
            <a:r>
              <a:rPr lang="en-US" altLang="en-US" sz="2400" dirty="0">
                <a:latin typeface="Times New Roman" panose="02020603050405020304" pitchFamily="18" charset="0"/>
                <a:cs typeface="Times New Roman" panose="02020603050405020304" pitchFamily="18" charset="0"/>
              </a:rPr>
              <a:t>If we’re trying to decide whether the mean is not equal to 350, a large value of (600), then     would provide enough evidence. </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If     is close to 350 (say, 355) we could not say that this provides a great deal of evidence to infer that the population mean is different than 350.</a:t>
            </a:r>
          </a:p>
        </p:txBody>
      </p:sp>
      <p:pic>
        <p:nvPicPr>
          <p:cNvPr id="7" name="Picture 5">
            <a:extLst>
              <a:ext uri="{FF2B5EF4-FFF2-40B4-BE49-F238E27FC236}">
                <a16:creationId xmlns:a16="http://schemas.microsoft.com/office/drawing/2014/main" id="{A4695560-E055-4422-9053-8A48FAE35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94261"/>
            <a:ext cx="304800" cy="3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5310A3AD-01CB-435A-88D7-332016EAE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1981200"/>
            <a:ext cx="304800" cy="3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4275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B71CC91-DE53-4299-9750-1BA41E7C0E40}"/>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t>Concepts of Hypothesis Testing</a:t>
            </a:r>
          </a:p>
        </p:txBody>
      </p:sp>
      <p:sp>
        <p:nvSpPr>
          <p:cNvPr id="5" name="TextBox 4">
            <a:extLst>
              <a:ext uri="{FF2B5EF4-FFF2-40B4-BE49-F238E27FC236}">
                <a16:creationId xmlns:a16="http://schemas.microsoft.com/office/drawing/2014/main" id="{30BBB0C8-64C6-4A97-8558-EBC2899B6D84}"/>
              </a:ext>
            </a:extLst>
          </p:cNvPr>
          <p:cNvSpPr txBox="1"/>
          <p:nvPr/>
        </p:nvSpPr>
        <p:spPr>
          <a:xfrm>
            <a:off x="304800" y="1166843"/>
            <a:ext cx="8382000" cy="4524315"/>
          </a:xfrm>
          <a:prstGeom prst="rect">
            <a:avLst/>
          </a:prstGeom>
          <a:noFill/>
        </p:spPr>
        <p:txBody>
          <a:bodyPr wrap="square">
            <a:spAutoFit/>
          </a:bodyPr>
          <a:lstStyle/>
          <a:p>
            <a:pPr eaLnBrk="1" hangingPunct="1"/>
            <a:r>
              <a:rPr lang="en-US" altLang="en-US" sz="2400" dirty="0">
                <a:latin typeface="Times New Roman" panose="02020603050405020304" pitchFamily="18" charset="0"/>
                <a:cs typeface="Times New Roman" panose="02020603050405020304" pitchFamily="18" charset="0"/>
              </a:rPr>
              <a:t>The </a:t>
            </a:r>
            <a:r>
              <a:rPr lang="en-US" altLang="en-US" sz="2400" b="1" dirty="0">
                <a:solidFill>
                  <a:srgbClr val="FF0000"/>
                </a:solidFill>
                <a:latin typeface="Times New Roman" panose="02020603050405020304" pitchFamily="18" charset="0"/>
                <a:cs typeface="Times New Roman" panose="02020603050405020304" pitchFamily="18" charset="0"/>
              </a:rPr>
              <a:t>two</a:t>
            </a:r>
            <a:r>
              <a:rPr lang="en-US" altLang="en-US" sz="2400" dirty="0">
                <a:latin typeface="Times New Roman" panose="02020603050405020304" pitchFamily="18" charset="0"/>
                <a:cs typeface="Times New Roman" panose="02020603050405020304" pitchFamily="18" charset="0"/>
              </a:rPr>
              <a:t> possible decisions that can be made:</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è"/>
            </a:pPr>
            <a:r>
              <a:rPr lang="en-US" altLang="en-US" sz="2400" dirty="0">
                <a:latin typeface="Times New Roman" panose="02020603050405020304" pitchFamily="18" charset="0"/>
                <a:cs typeface="Times New Roman" panose="02020603050405020304" pitchFamily="18" charset="0"/>
              </a:rPr>
              <a:t>Conclude that there </a:t>
            </a:r>
            <a:r>
              <a:rPr lang="en-US" altLang="en-US" sz="2400" b="1" i="1" dirty="0">
                <a:solidFill>
                  <a:srgbClr val="0000FF"/>
                </a:solidFill>
                <a:latin typeface="Times New Roman" panose="02020603050405020304" pitchFamily="18" charset="0"/>
                <a:cs typeface="Times New Roman" panose="02020603050405020304" pitchFamily="18" charset="0"/>
              </a:rPr>
              <a:t>is</a:t>
            </a:r>
            <a:r>
              <a:rPr lang="en-US" altLang="en-US" sz="2400" b="1" i="1" dirty="0">
                <a:latin typeface="Times New Roman" panose="02020603050405020304" pitchFamily="18" charset="0"/>
                <a:cs typeface="Times New Roman" panose="02020603050405020304" pitchFamily="18" charset="0"/>
              </a:rPr>
              <a:t> enough evidence</a:t>
            </a:r>
            <a:r>
              <a:rPr lang="en-US" altLang="en-US" sz="2400" dirty="0">
                <a:latin typeface="Times New Roman" panose="02020603050405020304" pitchFamily="18" charset="0"/>
                <a:cs typeface="Times New Roman" panose="02020603050405020304" pitchFamily="18" charset="0"/>
              </a:rPr>
              <a:t> to support the alternative hypothesis</a:t>
            </a:r>
          </a:p>
          <a:p>
            <a:pPr eaLnBrk="1" hangingPunct="1">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(also stated as: </a:t>
            </a:r>
            <a:r>
              <a:rPr lang="en-US" altLang="en-US" sz="2400" b="1" u="sng" dirty="0">
                <a:solidFill>
                  <a:srgbClr val="008000"/>
                </a:solidFill>
                <a:latin typeface="Times New Roman" panose="02020603050405020304" pitchFamily="18" charset="0"/>
                <a:cs typeface="Times New Roman" panose="02020603050405020304" pitchFamily="18" charset="0"/>
              </a:rPr>
              <a:t>reject the null hypothesis</a:t>
            </a:r>
            <a:r>
              <a:rPr lang="en-US" altLang="en-US" sz="2400" b="1" u="sng"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 favor of the alternative</a:t>
            </a:r>
            <a:r>
              <a:rPr lang="en-US" altLang="en-US" sz="2400" dirty="0">
                <a:latin typeface="Times New Roman" panose="02020603050405020304" pitchFamily="18" charset="0"/>
                <a:cs typeface="Times New Roman" panose="02020603050405020304" pitchFamily="18" charset="0"/>
              </a:rPr>
              <a:t>)</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è"/>
            </a:pPr>
            <a:r>
              <a:rPr lang="en-US" altLang="en-US" sz="2400" dirty="0">
                <a:latin typeface="Times New Roman" panose="02020603050405020304" pitchFamily="18" charset="0"/>
                <a:cs typeface="Times New Roman" panose="02020603050405020304" pitchFamily="18" charset="0"/>
              </a:rPr>
              <a:t>Conclude that there </a:t>
            </a:r>
            <a:r>
              <a:rPr lang="en-US" altLang="en-US" sz="2400" b="1" i="1" dirty="0">
                <a:solidFill>
                  <a:srgbClr val="FF0000"/>
                </a:solidFill>
                <a:latin typeface="Times New Roman" panose="02020603050405020304" pitchFamily="18" charset="0"/>
                <a:cs typeface="Times New Roman" panose="02020603050405020304" pitchFamily="18" charset="0"/>
              </a:rPr>
              <a:t>is not</a:t>
            </a:r>
            <a:r>
              <a:rPr lang="en-US" altLang="en-US" sz="2400" b="1" i="1" dirty="0">
                <a:latin typeface="Times New Roman" panose="02020603050405020304" pitchFamily="18" charset="0"/>
                <a:cs typeface="Times New Roman" panose="02020603050405020304" pitchFamily="18" charset="0"/>
              </a:rPr>
              <a:t> enough evidence</a:t>
            </a:r>
            <a:r>
              <a:rPr lang="en-US" altLang="en-US" sz="2400" dirty="0">
                <a:latin typeface="Times New Roman" panose="02020603050405020304" pitchFamily="18" charset="0"/>
                <a:cs typeface="Times New Roman" panose="02020603050405020304" pitchFamily="18" charset="0"/>
              </a:rPr>
              <a:t> to support the alternative hypothesis</a:t>
            </a:r>
          </a:p>
          <a:p>
            <a:pPr eaLnBrk="1" hangingPunct="1">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(also stated as: </a:t>
            </a:r>
            <a:r>
              <a:rPr lang="en-US" altLang="en-US" sz="2400" u="sng" dirty="0">
                <a:solidFill>
                  <a:srgbClr val="008000"/>
                </a:solidFill>
                <a:latin typeface="Times New Roman" panose="02020603050405020304" pitchFamily="18" charset="0"/>
                <a:cs typeface="Times New Roman" panose="02020603050405020304" pitchFamily="18" charset="0"/>
              </a:rPr>
              <a:t>failing to reject</a:t>
            </a:r>
            <a:r>
              <a:rPr lang="en-US" altLang="en-US" sz="2400" dirty="0">
                <a:latin typeface="Times New Roman" panose="02020603050405020304" pitchFamily="18" charset="0"/>
                <a:cs typeface="Times New Roman" panose="02020603050405020304" pitchFamily="18" charset="0"/>
              </a:rPr>
              <a:t> the null hypothesis in favor of the alternative)</a:t>
            </a:r>
          </a:p>
          <a:p>
            <a:pPr eaLnBrk="1" hangingPunct="1">
              <a:buFont typeface="Wingdings" panose="05000000000000000000" pitchFamily="2" charset="2"/>
              <a:buNone/>
            </a:pPr>
            <a:r>
              <a:rPr lang="en-US" altLang="en-US" sz="2400" dirty="0">
                <a:solidFill>
                  <a:srgbClr val="0000FF"/>
                </a:solidFill>
                <a:latin typeface="Times New Roman" panose="02020603050405020304" pitchFamily="18" charset="0"/>
                <a:cs typeface="Times New Roman" panose="02020603050405020304" pitchFamily="18" charset="0"/>
              </a:rPr>
              <a:t>NOTE: we </a:t>
            </a:r>
            <a:r>
              <a:rPr lang="en-US" altLang="en-US" sz="2400" b="1" dirty="0">
                <a:solidFill>
                  <a:srgbClr val="0000FF"/>
                </a:solidFill>
                <a:latin typeface="Times New Roman" panose="02020603050405020304" pitchFamily="18" charset="0"/>
                <a:cs typeface="Times New Roman" panose="02020603050405020304" pitchFamily="18" charset="0"/>
              </a:rPr>
              <a:t>do not</a:t>
            </a:r>
            <a:r>
              <a:rPr lang="en-US" altLang="en-US" sz="2400" dirty="0">
                <a:solidFill>
                  <a:srgbClr val="0000FF"/>
                </a:solidFill>
                <a:latin typeface="Times New Roman" panose="02020603050405020304" pitchFamily="18" charset="0"/>
                <a:cs typeface="Times New Roman" panose="02020603050405020304" pitchFamily="18" charset="0"/>
              </a:rPr>
              <a:t> say that we </a:t>
            </a:r>
            <a:r>
              <a:rPr lang="en-US" altLang="en-US" sz="2400" b="1" dirty="0">
                <a:solidFill>
                  <a:srgbClr val="0000FF"/>
                </a:solidFill>
                <a:latin typeface="Times New Roman" panose="02020603050405020304" pitchFamily="18" charset="0"/>
                <a:cs typeface="Times New Roman" panose="02020603050405020304" pitchFamily="18" charset="0"/>
              </a:rPr>
              <a:t>accept</a:t>
            </a:r>
            <a:r>
              <a:rPr lang="en-US" altLang="en-US" sz="2400" dirty="0">
                <a:solidFill>
                  <a:srgbClr val="0000FF"/>
                </a:solidFill>
                <a:latin typeface="Times New Roman" panose="02020603050405020304" pitchFamily="18" charset="0"/>
                <a:cs typeface="Times New Roman" panose="02020603050405020304" pitchFamily="18" charset="0"/>
              </a:rPr>
              <a:t> the null hypothesis.</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919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7E8C5D2-DE2A-4583-BFF8-3EEBC2F3EDED}"/>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t>Concepts of Hypothesis Testing…</a:t>
            </a:r>
          </a:p>
        </p:txBody>
      </p:sp>
      <p:sp>
        <p:nvSpPr>
          <p:cNvPr id="23" name="TextBox 22">
            <a:extLst>
              <a:ext uri="{FF2B5EF4-FFF2-40B4-BE49-F238E27FC236}">
                <a16:creationId xmlns:a16="http://schemas.microsoft.com/office/drawing/2014/main" id="{0D77FF2B-9E04-4810-93C1-B546C095C6AB}"/>
              </a:ext>
            </a:extLst>
          </p:cNvPr>
          <p:cNvSpPr txBox="1"/>
          <p:nvPr/>
        </p:nvSpPr>
        <p:spPr>
          <a:xfrm>
            <a:off x="381000" y="1443840"/>
            <a:ext cx="7848600" cy="4154984"/>
          </a:xfrm>
          <a:prstGeom prst="rect">
            <a:avLst/>
          </a:prstGeom>
          <a:noFill/>
        </p:spPr>
        <p:txBody>
          <a:bodyPr wrap="square">
            <a:spAutoFit/>
          </a:bodyPr>
          <a:lstStyle/>
          <a:p>
            <a:pPr eaLnBrk="1" hangingPunct="1"/>
            <a:r>
              <a:rPr lang="en-US" altLang="en-US" sz="2400" dirty="0">
                <a:latin typeface="Times New Roman" panose="02020603050405020304" pitchFamily="18" charset="0"/>
                <a:cs typeface="Times New Roman" panose="02020603050405020304" pitchFamily="18" charset="0"/>
              </a:rPr>
              <a:t>The testing procedure begins with the </a:t>
            </a:r>
            <a:r>
              <a:rPr lang="en-US" altLang="en-US" sz="2400" b="1" i="1" dirty="0">
                <a:latin typeface="Times New Roman" panose="02020603050405020304" pitchFamily="18" charset="0"/>
                <a:cs typeface="Times New Roman" panose="02020603050405020304" pitchFamily="18" charset="0"/>
              </a:rPr>
              <a:t>assumption that the null hypothesis is </a:t>
            </a:r>
            <a:r>
              <a:rPr lang="en-US" altLang="en-US" sz="2400" b="1" i="1" dirty="0">
                <a:solidFill>
                  <a:srgbClr val="FF0000"/>
                </a:solidFill>
                <a:latin typeface="Times New Roman" panose="02020603050405020304" pitchFamily="18" charset="0"/>
                <a:cs typeface="Times New Roman" panose="02020603050405020304" pitchFamily="18" charset="0"/>
              </a:rPr>
              <a:t>true</a:t>
            </a:r>
            <a:r>
              <a:rPr lang="en-US" altLang="en-US" sz="2400" dirty="0">
                <a:latin typeface="Times New Roman" panose="02020603050405020304" pitchFamily="18" charset="0"/>
                <a:cs typeface="Times New Roman" panose="02020603050405020304" pitchFamily="18" charset="0"/>
              </a:rPr>
              <a:t>.</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Thus, until we have further statistical evidence, we will </a:t>
            </a:r>
            <a:r>
              <a:rPr lang="en-US" altLang="en-US" sz="2400" b="1" u="sng" dirty="0">
                <a:latin typeface="Times New Roman" panose="02020603050405020304" pitchFamily="18" charset="0"/>
                <a:cs typeface="Times New Roman" panose="02020603050405020304" pitchFamily="18" charset="0"/>
              </a:rPr>
              <a:t>assume</a:t>
            </a:r>
            <a:r>
              <a:rPr lang="en-US" altLang="en-US" sz="2400" dirty="0">
                <a:latin typeface="Times New Roman" panose="02020603050405020304" pitchFamily="18" charset="0"/>
                <a:cs typeface="Times New Roman" panose="02020603050405020304" pitchFamily="18" charset="0"/>
              </a:rPr>
              <a:t>:</a:t>
            </a:r>
          </a:p>
          <a:p>
            <a:pPr eaLnBrk="1" hangingPunct="1"/>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	H</a:t>
            </a:r>
            <a:r>
              <a:rPr lang="en-US" altLang="en-US" sz="2400" baseline="-25000" dirty="0">
                <a:latin typeface="Times New Roman" panose="02020603050405020304" pitchFamily="18" charset="0"/>
                <a:cs typeface="Times New Roman" panose="02020603050405020304" pitchFamily="18" charset="0"/>
              </a:rPr>
              <a:t>0</a:t>
            </a:r>
            <a:r>
              <a:rPr lang="en-US" altLang="en-US" sz="2400" dirty="0">
                <a:latin typeface="Times New Roman" panose="02020603050405020304" pitchFamily="18" charset="0"/>
                <a:cs typeface="Times New Roman" panose="02020603050405020304" pitchFamily="18" charset="0"/>
              </a:rPr>
              <a:t>: µ= 350 units   </a:t>
            </a:r>
            <a:r>
              <a:rPr lang="en-US" altLang="en-US" sz="2400" dirty="0">
                <a:solidFill>
                  <a:srgbClr val="0000FF"/>
                </a:solidFill>
                <a:latin typeface="Times New Roman" panose="02020603050405020304" pitchFamily="18" charset="0"/>
                <a:cs typeface="Times New Roman" panose="02020603050405020304" pitchFamily="18" charset="0"/>
              </a:rPr>
              <a:t>(assumed to be TRUE)</a:t>
            </a:r>
          </a:p>
          <a:p>
            <a:pPr eaLnBrk="1" hangingPunct="1"/>
            <a:r>
              <a:rPr lang="en-US" altLang="en-US" sz="2400" dirty="0">
                <a:solidFill>
                  <a:srgbClr val="FF0000"/>
                </a:solidFill>
                <a:latin typeface="Times New Roman" panose="02020603050405020304" pitchFamily="18" charset="0"/>
                <a:cs typeface="Times New Roman" panose="02020603050405020304" pitchFamily="18" charset="0"/>
              </a:rPr>
              <a:t>The next step will be to determine the sampling distribution of the sample mean     assuming the true mean is 350.      </a:t>
            </a:r>
          </a:p>
          <a:p>
            <a:pPr eaLnBrk="1" hangingPunct="1"/>
            <a:r>
              <a:rPr lang="en-US" altLang="en-US" sz="2400" dirty="0">
                <a:solidFill>
                  <a:srgbClr val="0000FF"/>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is normal with                     </a:t>
            </a:r>
            <a:r>
              <a:rPr lang="en-US" altLang="en-US" sz="2400" dirty="0">
                <a:solidFill>
                  <a:srgbClr val="FF0000"/>
                </a:solidFill>
                <a:latin typeface="Times New Roman" panose="02020603050405020304" pitchFamily="18" charset="0"/>
                <a:cs typeface="Times New Roman" panose="02020603050405020304" pitchFamily="18" charset="0"/>
              </a:rPr>
              <a:t>350</a:t>
            </a:r>
          </a:p>
          <a:p>
            <a:pPr eaLnBrk="1" hangingPunct="1"/>
            <a:r>
              <a:rPr lang="en-US" altLang="en-US" sz="2400" dirty="0">
                <a:solidFill>
                  <a:srgbClr val="0000FF"/>
                </a:solidFill>
                <a:latin typeface="Times New Roman" panose="02020603050405020304" pitchFamily="18" charset="0"/>
                <a:cs typeface="Times New Roman" panose="02020603050405020304" pitchFamily="18" charset="0"/>
              </a:rPr>
              <a:t>	</a:t>
            </a:r>
            <a:endParaRPr lang="en-US" altLang="en-US" sz="2400" dirty="0">
              <a:solidFill>
                <a:srgbClr val="FF0000"/>
              </a:solidFill>
              <a:latin typeface="Times New Roman" panose="02020603050405020304" pitchFamily="18" charset="0"/>
              <a:cs typeface="Times New Roman" panose="02020603050405020304" pitchFamily="18" charset="0"/>
            </a:endParaRPr>
          </a:p>
        </p:txBody>
      </p:sp>
      <p:pic>
        <p:nvPicPr>
          <p:cNvPr id="24" name="Picture 5">
            <a:extLst>
              <a:ext uri="{FF2B5EF4-FFF2-40B4-BE49-F238E27FC236}">
                <a16:creationId xmlns:a16="http://schemas.microsoft.com/office/drawing/2014/main" id="{7337B97E-84EB-4757-A318-4463B9166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419600"/>
            <a:ext cx="35256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5">
            <a:extLst>
              <a:ext uri="{FF2B5EF4-FFF2-40B4-BE49-F238E27FC236}">
                <a16:creationId xmlns:a16="http://schemas.microsoft.com/office/drawing/2014/main" id="{573B358F-6C60-4D0E-A30E-51A5E71CE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800600"/>
            <a:ext cx="35256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8">
            <a:extLst>
              <a:ext uri="{FF2B5EF4-FFF2-40B4-BE49-F238E27FC236}">
                <a16:creationId xmlns:a16="http://schemas.microsoft.com/office/drawing/2014/main" id="{3F1F6992-E349-4917-802C-1E17CA445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6100" y="4817533"/>
            <a:ext cx="1219200" cy="364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8">
            <a:extLst>
              <a:ext uri="{FF2B5EF4-FFF2-40B4-BE49-F238E27FC236}">
                <a16:creationId xmlns:a16="http://schemas.microsoft.com/office/drawing/2014/main" id="{F5D4C385-D9DA-4497-BEC8-CA9F3E2D9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6832" y="5394036"/>
            <a:ext cx="13716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31">
            <a:extLst>
              <a:ext uri="{FF2B5EF4-FFF2-40B4-BE49-F238E27FC236}">
                <a16:creationId xmlns:a16="http://schemas.microsoft.com/office/drawing/2014/main" id="{57810BC6-EE74-4B56-B61D-7A403F9A1B89}"/>
              </a:ext>
            </a:extLst>
          </p:cNvPr>
          <p:cNvPicPr>
            <a:picLocks noChangeAspect="1"/>
          </p:cNvPicPr>
          <p:nvPr/>
        </p:nvPicPr>
        <p:blipFill>
          <a:blip r:embed="rId4"/>
          <a:stretch>
            <a:fillRect/>
          </a:stretch>
        </p:blipFill>
        <p:spPr>
          <a:xfrm>
            <a:off x="4468432" y="5182205"/>
            <a:ext cx="1605885" cy="698211"/>
          </a:xfrm>
          <a:prstGeom prst="rect">
            <a:avLst/>
          </a:prstGeom>
        </p:spPr>
      </p:pic>
    </p:spTree>
    <p:extLst>
      <p:ext uri="{BB962C8B-B14F-4D97-AF65-F5344CB8AC3E}">
        <p14:creationId xmlns:p14="http://schemas.microsoft.com/office/powerpoint/2010/main" val="4008723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0BB353-A019-4F48-B8C2-7C5A5CC6C0BC}"/>
              </a:ext>
            </a:extLst>
          </p:cNvPr>
          <p:cNvSpPr txBox="1"/>
          <p:nvPr/>
        </p:nvSpPr>
        <p:spPr>
          <a:xfrm>
            <a:off x="1066800" y="152400"/>
            <a:ext cx="7467600" cy="400110"/>
          </a:xfrm>
          <a:prstGeom prst="rect">
            <a:avLst/>
          </a:prstGeom>
          <a:noFill/>
        </p:spPr>
        <p:txBody>
          <a:bodyPr wrap="square">
            <a:spAutoFit/>
          </a:bodyPr>
          <a:lstStyle/>
          <a:p>
            <a:pPr algn="ctr"/>
            <a:r>
              <a:rPr lang="en-US" altLang="en-US" sz="2000" b="1" u="sng" dirty="0">
                <a:latin typeface="Times New Roman" panose="02020603050405020304" pitchFamily="18" charset="0"/>
                <a:cs typeface="Times New Roman" panose="02020603050405020304" pitchFamily="18" charset="0"/>
              </a:rPr>
              <a:t>Is the Sample Mean in the “Guts” of the Sampling Distribution??</a:t>
            </a:r>
            <a:endParaRPr lang="en-US" sz="20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38A4F69-97EB-4FB1-A972-E744C1C9F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600" y="685800"/>
            <a:ext cx="7162800" cy="5202237"/>
          </a:xfrm>
          <a:prstGeom prst="rect">
            <a:avLst/>
          </a:prstGeom>
          <a:noFill/>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Tree>
    <p:extLst>
      <p:ext uri="{BB962C8B-B14F-4D97-AF65-F5344CB8AC3E}">
        <p14:creationId xmlns:p14="http://schemas.microsoft.com/office/powerpoint/2010/main" val="346893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3A789C-CDCA-4CFC-B50F-D2EADF96E547}"/>
              </a:ext>
            </a:extLst>
          </p:cNvPr>
          <p:cNvSpPr txBox="1"/>
          <p:nvPr/>
        </p:nvSpPr>
        <p:spPr>
          <a:xfrm>
            <a:off x="1257300" y="152400"/>
            <a:ext cx="6858000" cy="369332"/>
          </a:xfrm>
          <a:prstGeom prst="rect">
            <a:avLst/>
          </a:prstGeom>
          <a:noFill/>
        </p:spPr>
        <p:txBody>
          <a:bodyPr wrap="square">
            <a:spAutoFit/>
          </a:bodyPr>
          <a:lstStyle/>
          <a:p>
            <a:pPr algn="ctr"/>
            <a:r>
              <a:rPr lang="en-US" altLang="en-US" b="1" u="sng" dirty="0">
                <a:latin typeface="Times New Roman" panose="02020603050405020304" pitchFamily="18" charset="0"/>
                <a:cs typeface="Times New Roman" panose="02020603050405020304" pitchFamily="18" charset="0"/>
              </a:rPr>
              <a:t>Is the Sample Mean in the “Guts” of the Sampling Distribution??</a:t>
            </a:r>
            <a:endParaRPr lang="en-US"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AF8E739-F0A8-436C-8F80-B0A561F63CAF}"/>
              </a:ext>
            </a:extLst>
          </p:cNvPr>
          <p:cNvSpPr txBox="1"/>
          <p:nvPr/>
        </p:nvSpPr>
        <p:spPr>
          <a:xfrm>
            <a:off x="457200" y="628969"/>
            <a:ext cx="8077200" cy="461665"/>
          </a:xfrm>
          <a:prstGeom prst="rect">
            <a:avLst/>
          </a:prstGeom>
          <a:noFill/>
        </p:spPr>
        <p:txBody>
          <a:bodyPr wrap="square">
            <a:spAutoFit/>
          </a:bodyPr>
          <a:lstStyle/>
          <a:p>
            <a:pPr algn="ctr"/>
            <a:r>
              <a:rPr lang="en-US" altLang="en-US" sz="2400" b="1" u="sng" dirty="0">
                <a:latin typeface="Times New Roman" panose="02020603050405020304" pitchFamily="18" charset="0"/>
                <a:cs typeface="Times New Roman" panose="02020603050405020304" pitchFamily="18" charset="0"/>
              </a:rPr>
              <a:t>Method # 1: The Unstandardized Test Statistic Approach</a:t>
            </a:r>
          </a:p>
        </p:txBody>
      </p:sp>
      <p:sp>
        <p:nvSpPr>
          <p:cNvPr id="8" name="TextBox 7">
            <a:extLst>
              <a:ext uri="{FF2B5EF4-FFF2-40B4-BE49-F238E27FC236}">
                <a16:creationId xmlns:a16="http://schemas.microsoft.com/office/drawing/2014/main" id="{AAF755DB-8132-4953-BA92-D3F7E8E862C0}"/>
              </a:ext>
            </a:extLst>
          </p:cNvPr>
          <p:cNvSpPr txBox="1"/>
          <p:nvPr/>
        </p:nvSpPr>
        <p:spPr>
          <a:xfrm>
            <a:off x="838200" y="1092780"/>
            <a:ext cx="7696200" cy="5262979"/>
          </a:xfrm>
          <a:prstGeom prst="rect">
            <a:avLst/>
          </a:prstGeom>
          <a:noFill/>
        </p:spPr>
        <p:txBody>
          <a:bodyPr wrap="square">
            <a:spAutoFit/>
          </a:bodyPr>
          <a:lstStyle/>
          <a:p>
            <a:pPr eaLnBrk="1" hangingPunct="1">
              <a:defRPr/>
            </a:pPr>
            <a:r>
              <a:rPr lang="en-US" altLang="en-US" sz="2400" dirty="0">
                <a:latin typeface="Times New Roman" panose="02020603050405020304" pitchFamily="18" charset="0"/>
                <a:cs typeface="Times New Roman" panose="02020603050405020304" pitchFamily="18" charset="0"/>
              </a:rPr>
              <a:t>Is     in the guts of the sampling distribution?  It depends on what you define as the “guts” of the sampling distribution.</a:t>
            </a:r>
          </a:p>
          <a:p>
            <a:pPr marL="533400" indent="-533400" eaLnBrk="1" hangingPunct="1">
              <a:buFontTx/>
              <a:buAutoNum type="arabicPeriod"/>
              <a:defRPr/>
            </a:pPr>
            <a:endParaRPr lang="en-US" altLang="en-US" sz="2400" dirty="0">
              <a:latin typeface="Times New Roman" panose="02020603050405020304" pitchFamily="18" charset="0"/>
              <a:cs typeface="Times New Roman" panose="02020603050405020304" pitchFamily="18" charset="0"/>
            </a:endParaRPr>
          </a:p>
          <a:p>
            <a:pPr marL="533400" indent="-533400" eaLnBrk="1" hangingPunct="1">
              <a:defRPr/>
            </a:pPr>
            <a:r>
              <a:rPr lang="en-US" altLang="en-US" sz="2400" dirty="0">
                <a:latin typeface="Times New Roman" panose="02020603050405020304" pitchFamily="18" charset="0"/>
                <a:cs typeface="Times New Roman" panose="02020603050405020304" pitchFamily="18" charset="0"/>
              </a:rPr>
              <a:t>If we define the guts as the center 95% of the distribution</a:t>
            </a:r>
            <a:r>
              <a:rPr lang="en-US" altLang="en-US" sz="2400" dirty="0">
                <a:solidFill>
                  <a:srgbClr val="D60093"/>
                </a:solidFill>
                <a:latin typeface="Times New Roman" panose="02020603050405020304" pitchFamily="18" charset="0"/>
                <a:cs typeface="Times New Roman" panose="02020603050405020304" pitchFamily="18" charset="0"/>
              </a:rPr>
              <a:t> [this means </a:t>
            </a:r>
            <a:r>
              <a:rPr lang="en-US" altLang="en-US" sz="2400"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 = 0.05]</a:t>
            </a:r>
            <a:r>
              <a:rPr lang="en-US" altLang="en-US" sz="2400" dirty="0">
                <a:latin typeface="Times New Roman" panose="02020603050405020304" pitchFamily="18" charset="0"/>
                <a:cs typeface="Times New Roman" panose="02020603050405020304" pitchFamily="18" charset="0"/>
              </a:rPr>
              <a:t>, then the critical values that define the guts will be 1.96 standard deviations from x-bar on either side of the mean of the sampling distribution [350], or</a:t>
            </a:r>
          </a:p>
          <a:p>
            <a:pPr marL="533400" indent="-533400" eaLnBrk="1" hangingPunct="1">
              <a:defRPr/>
            </a:pPr>
            <a:endParaRPr lang="en-US" altLang="en-US" sz="2400" dirty="0">
              <a:latin typeface="Times New Roman" panose="02020603050405020304" pitchFamily="18" charset="0"/>
              <a:cs typeface="Times New Roman" panose="02020603050405020304" pitchFamily="18" charset="0"/>
            </a:endParaRPr>
          </a:p>
          <a:p>
            <a:pPr marL="533400" indent="-533400" eaLnBrk="1" hangingPunct="1">
              <a:defRPr/>
            </a:pPr>
            <a:r>
              <a:rPr lang="en-US" altLang="en-US" sz="2400" dirty="0">
                <a:latin typeface="Times New Roman" panose="02020603050405020304" pitchFamily="18" charset="0"/>
                <a:cs typeface="Times New Roman" panose="02020603050405020304" pitchFamily="18" charset="0"/>
              </a:rPr>
              <a:t>	Upper bound = 350 + 1.96*15 = 350 + 29.4 = 379.4 units</a:t>
            </a:r>
          </a:p>
          <a:p>
            <a:pPr marL="533400" indent="-533400" eaLnBrk="1" hangingPunct="1">
              <a:defRPr/>
            </a:pPr>
            <a:r>
              <a:rPr lang="en-US" altLang="en-US" sz="2400" dirty="0">
                <a:latin typeface="Times New Roman" panose="02020603050405020304" pitchFamily="18" charset="0"/>
                <a:cs typeface="Times New Roman" panose="02020603050405020304" pitchFamily="18" charset="0"/>
              </a:rPr>
              <a:t>	Lower bound = 350 – 1.96*15 = 350 – 29.4 = 320.6 units</a:t>
            </a:r>
          </a:p>
          <a:p>
            <a:pPr eaLnBrk="1" hangingPunct="1">
              <a:defRPr/>
            </a:pPr>
            <a:endParaRPr lang="en-US" altLang="en-US" sz="2400" dirty="0">
              <a:latin typeface="Times New Roman" panose="02020603050405020304" pitchFamily="18" charset="0"/>
              <a:cs typeface="Times New Roman" panose="02020603050405020304" pitchFamily="18" charset="0"/>
            </a:endParaRPr>
          </a:p>
        </p:txBody>
      </p:sp>
      <p:pic>
        <p:nvPicPr>
          <p:cNvPr id="9" name="Picture 5">
            <a:extLst>
              <a:ext uri="{FF2B5EF4-FFF2-40B4-BE49-F238E27FC236}">
                <a16:creationId xmlns:a16="http://schemas.microsoft.com/office/drawing/2014/main" id="{6F1E5F23-8866-47B3-AFF7-A11827520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689" y="1187139"/>
            <a:ext cx="28205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863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22CA9D1-2FEC-482F-827B-02C00CAE2B6F}"/>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t>Unstandardized Test Statistic Approach</a:t>
            </a:r>
          </a:p>
        </p:txBody>
      </p:sp>
      <p:pic>
        <p:nvPicPr>
          <p:cNvPr id="5" name="Picture 4">
            <a:extLst>
              <a:ext uri="{FF2B5EF4-FFF2-40B4-BE49-F238E27FC236}">
                <a16:creationId xmlns:a16="http://schemas.microsoft.com/office/drawing/2014/main" id="{9A8A1018-6ECA-4F54-8C9D-32C4FA733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33400" y="762001"/>
            <a:ext cx="8001000" cy="5235575"/>
          </a:xfrm>
          <a:prstGeom prst="rect">
            <a:avLst/>
          </a:prstGeom>
          <a:noFill/>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
        <p:nvSpPr>
          <p:cNvPr id="6" name="TextBox 2">
            <a:extLst>
              <a:ext uri="{FF2B5EF4-FFF2-40B4-BE49-F238E27FC236}">
                <a16:creationId xmlns:a16="http://schemas.microsoft.com/office/drawing/2014/main" id="{B833AE27-751C-40E1-BDE8-E1891AAC3918}"/>
              </a:ext>
            </a:extLst>
          </p:cNvPr>
          <p:cNvSpPr txBox="1">
            <a:spLocks noChangeArrowheads="1"/>
          </p:cNvSpPr>
          <p:nvPr/>
        </p:nvSpPr>
        <p:spPr bwMode="auto">
          <a:xfrm>
            <a:off x="152400" y="1219200"/>
            <a:ext cx="85740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solidFill>
                  <a:srgbClr val="FF0000"/>
                </a:solidFill>
              </a:rPr>
              <a:t>This is a two-sided test, so we have one of two possible regions of rejection.</a:t>
            </a:r>
          </a:p>
        </p:txBody>
      </p:sp>
      <p:sp>
        <p:nvSpPr>
          <p:cNvPr id="7" name="TextBox 1">
            <a:extLst>
              <a:ext uri="{FF2B5EF4-FFF2-40B4-BE49-F238E27FC236}">
                <a16:creationId xmlns:a16="http://schemas.microsoft.com/office/drawing/2014/main" id="{75A95190-F5C5-440D-A8A0-18F5FA6A0DE8}"/>
              </a:ext>
            </a:extLst>
          </p:cNvPr>
          <p:cNvSpPr txBox="1">
            <a:spLocks noChangeArrowheads="1"/>
          </p:cNvSpPr>
          <p:nvPr/>
        </p:nvSpPr>
        <p:spPr bwMode="auto">
          <a:xfrm>
            <a:off x="2247900" y="1752600"/>
            <a:ext cx="2286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solidFill>
                  <a:srgbClr val="FF0000"/>
                </a:solidFill>
              </a:rPr>
              <a:t>The sample mean is located in the 95% region, so we fail to reject the null hypotheses.</a:t>
            </a:r>
          </a:p>
        </p:txBody>
      </p:sp>
    </p:spTree>
    <p:extLst>
      <p:ext uri="{BB962C8B-B14F-4D97-AF65-F5344CB8AC3E}">
        <p14:creationId xmlns:p14="http://schemas.microsoft.com/office/powerpoint/2010/main" val="342279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8423C9-DA24-4922-879A-8FC7983E9952}"/>
              </a:ext>
            </a:extLst>
          </p:cNvPr>
          <p:cNvSpPr txBox="1"/>
          <p:nvPr/>
        </p:nvSpPr>
        <p:spPr>
          <a:xfrm>
            <a:off x="1295400" y="152400"/>
            <a:ext cx="6324600" cy="923330"/>
          </a:xfrm>
          <a:prstGeom prst="rect">
            <a:avLst/>
          </a:prstGeom>
          <a:noFill/>
        </p:spPr>
        <p:txBody>
          <a:bodyPr wrap="square">
            <a:spAutoFit/>
          </a:bodyPr>
          <a:lstStyle/>
          <a:p>
            <a:r>
              <a:rPr lang="en-US" altLang="en-US" sz="1800" dirty="0">
                <a:solidFill>
                  <a:schemeClr val="accent4">
                    <a:lumMod val="75000"/>
                  </a:schemeClr>
                </a:solidFill>
                <a:latin typeface="Times New Roman" panose="02020603050405020304" pitchFamily="18" charset="0"/>
                <a:cs typeface="Times New Roman" panose="02020603050405020304" pitchFamily="18" charset="0"/>
              </a:rPr>
              <a:t>Is the Z-score of the sample mean located within the guts of the sampling distribution or is it located in the reject region outside of the “guts”?</a:t>
            </a:r>
            <a:endParaRPr lang="en-US"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6" name="TextBox 1">
            <a:extLst>
              <a:ext uri="{FF2B5EF4-FFF2-40B4-BE49-F238E27FC236}">
                <a16:creationId xmlns:a16="http://schemas.microsoft.com/office/drawing/2014/main" id="{22C4FFD6-7367-4F54-B159-F2B8A4AD42A8}"/>
              </a:ext>
            </a:extLst>
          </p:cNvPr>
          <p:cNvSpPr txBox="1">
            <a:spLocks noChangeArrowheads="1"/>
          </p:cNvSpPr>
          <p:nvPr/>
        </p:nvSpPr>
        <p:spPr bwMode="auto">
          <a:xfrm>
            <a:off x="990600" y="1075730"/>
            <a:ext cx="7620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b="1" u="sng" dirty="0"/>
              <a:t>Method # 2: The Standardized Test Statistic Approach</a:t>
            </a:r>
          </a:p>
        </p:txBody>
      </p:sp>
      <p:sp>
        <p:nvSpPr>
          <p:cNvPr id="7" name="Rectangle 3">
            <a:extLst>
              <a:ext uri="{FF2B5EF4-FFF2-40B4-BE49-F238E27FC236}">
                <a16:creationId xmlns:a16="http://schemas.microsoft.com/office/drawing/2014/main" id="{2B06230E-A1D9-48D6-8894-AE4E125D3DCA}"/>
              </a:ext>
            </a:extLst>
          </p:cNvPr>
          <p:cNvSpPr txBox="1">
            <a:spLocks noChangeArrowheads="1"/>
          </p:cNvSpPr>
          <p:nvPr/>
        </p:nvSpPr>
        <p:spPr>
          <a:xfrm>
            <a:off x="381000" y="1447800"/>
            <a:ext cx="8458200" cy="44196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We defined the “guts” of the sampling distribution to be the center 95% </a:t>
            </a:r>
            <a:r>
              <a:rPr lang="en-US" altLang="en-US" sz="2400" dirty="0">
                <a:solidFill>
                  <a:srgbClr val="D60093"/>
                </a:solidFill>
                <a:latin typeface="Times New Roman" panose="02020603050405020304" pitchFamily="18" charset="0"/>
                <a:cs typeface="Times New Roman" panose="02020603050405020304" pitchFamily="18" charset="0"/>
              </a:rPr>
              <a:t>[</a:t>
            </a:r>
            <a:r>
              <a:rPr lang="en-US" altLang="en-US" sz="2400"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 = 0.05].  The remaining 5% is split up into the two tails.</a:t>
            </a:r>
            <a:r>
              <a:rPr lang="en-US" altLang="en-US" sz="2400" dirty="0">
                <a:latin typeface="Times New Roman" panose="02020603050405020304" pitchFamily="18" charset="0"/>
                <a:cs typeface="Times New Roman" panose="02020603050405020304" pitchFamily="18" charset="0"/>
              </a:rPr>
              <a:t> </a:t>
            </a:r>
          </a:p>
          <a:p>
            <a:r>
              <a:rPr lang="en-US" altLang="en-US" sz="2400" dirty="0">
                <a:latin typeface="Times New Roman" panose="02020603050405020304" pitchFamily="18" charset="0"/>
                <a:cs typeface="Times New Roman" panose="02020603050405020304" pitchFamily="18" charset="0"/>
              </a:rPr>
              <a:t>If the Z-Score for the sample mean     is greater than 1.96, we know that       will be in the reject region on the right side or…</a:t>
            </a:r>
          </a:p>
          <a:p>
            <a:r>
              <a:rPr lang="en-US" altLang="en-US" sz="2400" dirty="0">
                <a:latin typeface="Times New Roman" panose="02020603050405020304" pitchFamily="18" charset="0"/>
                <a:cs typeface="Times New Roman" panose="02020603050405020304" pitchFamily="18" charset="0"/>
              </a:rPr>
              <a:t>If the Z-Score for the sample mean is less than -1.97, we know</a:t>
            </a:r>
          </a:p>
          <a:p>
            <a:r>
              <a:rPr lang="en-US" altLang="en-US" sz="2400" dirty="0">
                <a:latin typeface="Times New Roman" panose="02020603050405020304" pitchFamily="18" charset="0"/>
                <a:cs typeface="Times New Roman" panose="02020603050405020304" pitchFamily="18" charset="0"/>
              </a:rPr>
              <a:t>that        will be in the reject region on the left side.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Is this Z-Score in the guts of the sampling distribution?   </a:t>
            </a:r>
          </a:p>
        </p:txBody>
      </p:sp>
      <p:pic>
        <p:nvPicPr>
          <p:cNvPr id="9" name="Picture 8">
            <a:extLst>
              <a:ext uri="{FF2B5EF4-FFF2-40B4-BE49-F238E27FC236}">
                <a16:creationId xmlns:a16="http://schemas.microsoft.com/office/drawing/2014/main" id="{37060EAE-8CB4-4C17-B18F-E8381E4F46B6}"/>
              </a:ext>
            </a:extLst>
          </p:cNvPr>
          <p:cNvPicPr>
            <a:picLocks noChangeAspect="1"/>
          </p:cNvPicPr>
          <p:nvPr/>
        </p:nvPicPr>
        <p:blipFill>
          <a:blip r:embed="rId2"/>
          <a:stretch>
            <a:fillRect/>
          </a:stretch>
        </p:blipFill>
        <p:spPr>
          <a:xfrm>
            <a:off x="685800" y="4495800"/>
            <a:ext cx="7543800" cy="790575"/>
          </a:xfrm>
          <a:prstGeom prst="rect">
            <a:avLst/>
          </a:prstGeom>
        </p:spPr>
      </p:pic>
      <p:pic>
        <p:nvPicPr>
          <p:cNvPr id="10" name="Picture 4">
            <a:extLst>
              <a:ext uri="{FF2B5EF4-FFF2-40B4-BE49-F238E27FC236}">
                <a16:creationId xmlns:a16="http://schemas.microsoft.com/office/drawing/2014/main" id="{444CC736-ABC2-40AC-9C3A-86746DC65F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2618153"/>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a:extLst>
              <a:ext uri="{FF2B5EF4-FFF2-40B4-BE49-F238E27FC236}">
                <a16:creationId xmlns:a16="http://schemas.microsoft.com/office/drawing/2014/main" id="{6BC0DB80-4D5B-4BC5-A326-6B99DAAC7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003550"/>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a:extLst>
              <a:ext uri="{FF2B5EF4-FFF2-40B4-BE49-F238E27FC236}">
                <a16:creationId xmlns:a16="http://schemas.microsoft.com/office/drawing/2014/main" id="{58F26A96-C62F-44B4-B81A-95B63F71C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884315"/>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0460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370A54-A760-4CCB-8D7B-BB37C7E0A946}"/>
              </a:ext>
            </a:extLst>
          </p:cNvPr>
          <p:cNvSpPr txBox="1"/>
          <p:nvPr/>
        </p:nvSpPr>
        <p:spPr>
          <a:xfrm>
            <a:off x="533400" y="152400"/>
            <a:ext cx="8305800" cy="646331"/>
          </a:xfrm>
          <a:prstGeom prst="rect">
            <a:avLst/>
          </a:prstGeom>
          <a:noFill/>
        </p:spPr>
        <p:txBody>
          <a:bodyPr wrap="square">
            <a:spAutoFit/>
          </a:bodyPr>
          <a:lstStyle/>
          <a:p>
            <a:r>
              <a:rPr lang="en-US" altLang="en-US" sz="3600" b="1" u="sng" dirty="0">
                <a:latin typeface="Times New Roman" panose="02020603050405020304" pitchFamily="18" charset="0"/>
                <a:cs typeface="Times New Roman" panose="02020603050405020304" pitchFamily="18" charset="0"/>
              </a:rPr>
              <a:t>2. Standardized Test Statistic Approach</a:t>
            </a:r>
            <a:endParaRPr lang="en-US" sz="3600" b="1" u="sng"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9FD6C914-737E-44AB-9FC5-2E85212AE5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28700" y="864160"/>
            <a:ext cx="7086600" cy="5129679"/>
          </a:xfrm>
          <a:prstGeom prst="rect">
            <a:avLst/>
          </a:prstGeom>
          <a:noFill/>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Tree>
    <p:extLst>
      <p:ext uri="{BB962C8B-B14F-4D97-AF65-F5344CB8AC3E}">
        <p14:creationId xmlns:p14="http://schemas.microsoft.com/office/powerpoint/2010/main" val="4017743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9768B2-2C28-4E64-BE0A-D68728667C3B}"/>
              </a:ext>
            </a:extLst>
          </p:cNvPr>
          <p:cNvSpPr txBox="1"/>
          <p:nvPr/>
        </p:nvSpPr>
        <p:spPr>
          <a:xfrm>
            <a:off x="1828800" y="228600"/>
            <a:ext cx="5715000" cy="400110"/>
          </a:xfrm>
          <a:prstGeom prst="rect">
            <a:avLst/>
          </a:prstGeom>
          <a:noFill/>
        </p:spPr>
        <p:txBody>
          <a:bodyPr wrap="square">
            <a:spAutoFit/>
          </a:bodyPr>
          <a:lstStyle/>
          <a:p>
            <a:r>
              <a:rPr lang="en-US" altLang="en-US" sz="2000" dirty="0">
                <a:solidFill>
                  <a:schemeClr val="accent4">
                    <a:lumMod val="75000"/>
                  </a:schemeClr>
                </a:solidFill>
                <a:latin typeface="Times New Roman" panose="02020603050405020304" pitchFamily="18" charset="0"/>
                <a:cs typeface="Times New Roman" panose="02020603050405020304" pitchFamily="18" charset="0"/>
              </a:rPr>
              <a:t>Is the p-value higher or lower than the alpha level?</a:t>
            </a:r>
            <a:endParaRPr lang="en-US" sz="20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747E93-E3E7-4778-B092-EBD91869991E}"/>
              </a:ext>
            </a:extLst>
          </p:cNvPr>
          <p:cNvSpPr txBox="1"/>
          <p:nvPr/>
        </p:nvSpPr>
        <p:spPr>
          <a:xfrm>
            <a:off x="1797676" y="838200"/>
            <a:ext cx="5486400" cy="461665"/>
          </a:xfrm>
          <a:prstGeom prst="rect">
            <a:avLst/>
          </a:prstGeom>
          <a:noFill/>
        </p:spPr>
        <p:txBody>
          <a:bodyPr wrap="square">
            <a:spAutoFit/>
          </a:bodyPr>
          <a:lstStyle/>
          <a:p>
            <a:pPr algn="ctr"/>
            <a:r>
              <a:rPr lang="en-US" altLang="en-US" sz="2400" b="1" u="sng" dirty="0">
                <a:latin typeface="Times New Roman" panose="02020603050405020304" pitchFamily="18" charset="0"/>
                <a:cs typeface="Times New Roman" panose="02020603050405020304" pitchFamily="18" charset="0"/>
              </a:rPr>
              <a:t>Method # 3: The p-value approach</a:t>
            </a:r>
          </a:p>
        </p:txBody>
      </p:sp>
      <p:sp>
        <p:nvSpPr>
          <p:cNvPr id="7" name="Rectangle 3">
            <a:extLst>
              <a:ext uri="{FF2B5EF4-FFF2-40B4-BE49-F238E27FC236}">
                <a16:creationId xmlns:a16="http://schemas.microsoft.com/office/drawing/2014/main" id="{F5688F5D-3343-469D-A914-33A2F88E9ED7}"/>
              </a:ext>
            </a:extLst>
          </p:cNvPr>
          <p:cNvSpPr txBox="1">
            <a:spLocks noChangeArrowheads="1"/>
          </p:cNvSpPr>
          <p:nvPr/>
        </p:nvSpPr>
        <p:spPr>
          <a:xfrm>
            <a:off x="228600" y="1295400"/>
            <a:ext cx="8610600" cy="4724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a:t>
            </a:r>
            <a:r>
              <a:rPr lang="en-US" altLang="en-US" sz="2400" b="1" i="1" dirty="0">
                <a:latin typeface="Times New Roman" panose="02020603050405020304" pitchFamily="18" charset="0"/>
                <a:cs typeface="Times New Roman" panose="02020603050405020304" pitchFamily="18" charset="0"/>
              </a:rPr>
              <a:t>p-value</a:t>
            </a:r>
            <a:r>
              <a:rPr lang="en-US" altLang="en-US" sz="2400" dirty="0">
                <a:latin typeface="Times New Roman" panose="02020603050405020304" pitchFamily="18" charset="0"/>
                <a:cs typeface="Times New Roman" panose="02020603050405020304" pitchFamily="18" charset="0"/>
              </a:rPr>
              <a:t> approach is generally used with a calculator. Will the “Rejection Region” “capture” the sample mean?</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For this example, since     is to the right of the mean, calculate</a:t>
            </a:r>
          </a:p>
          <a:p>
            <a:r>
              <a:rPr lang="en-US" altLang="en-US" sz="2400" dirty="0">
                <a:latin typeface="Times New Roman" panose="02020603050405020304" pitchFamily="18" charset="0"/>
                <a:cs typeface="Times New Roman" panose="02020603050405020304" pitchFamily="18" charset="0"/>
              </a:rPr>
              <a:t> P(     </a:t>
            </a:r>
            <a:r>
              <a:rPr lang="en-US" altLang="en-US" sz="2400" u="sng" dirty="0">
                <a:latin typeface="Times New Roman" panose="02020603050405020304" pitchFamily="18" charset="0"/>
                <a:cs typeface="Times New Roman" panose="02020603050405020304" pitchFamily="18" charset="0"/>
              </a:rPr>
              <a:t>&gt;</a:t>
            </a:r>
            <a:r>
              <a:rPr lang="en-US" altLang="en-US" sz="2400" dirty="0">
                <a:latin typeface="Times New Roman" panose="02020603050405020304" pitchFamily="18" charset="0"/>
                <a:cs typeface="Times New Roman" panose="02020603050405020304" pitchFamily="18" charset="0"/>
              </a:rPr>
              <a:t> 370.16) = P(Z </a:t>
            </a:r>
            <a:r>
              <a:rPr lang="en-US" altLang="en-US" sz="2400" u="sng" dirty="0">
                <a:latin typeface="Times New Roman" panose="02020603050405020304" pitchFamily="18" charset="0"/>
                <a:cs typeface="Times New Roman" panose="02020603050405020304" pitchFamily="18" charset="0"/>
              </a:rPr>
              <a:t>&gt;</a:t>
            </a:r>
            <a:r>
              <a:rPr lang="en-US" altLang="en-US" sz="2400" dirty="0">
                <a:latin typeface="Times New Roman" panose="02020603050405020304" pitchFamily="18" charset="0"/>
                <a:cs typeface="Times New Roman" panose="02020603050405020304" pitchFamily="18" charset="0"/>
              </a:rPr>
              <a:t> 1.344) = 0.0901</a:t>
            </a:r>
          </a:p>
          <a:p>
            <a:r>
              <a:rPr lang="en-US" altLang="en-US" sz="2400" dirty="0">
                <a:latin typeface="Times New Roman" panose="02020603050405020304" pitchFamily="18" charset="0"/>
                <a:cs typeface="Times New Roman" panose="02020603050405020304" pitchFamily="18" charset="0"/>
              </a:rPr>
              <a:t>Since this is a two tailed test, you must double this area for the p-value.</a:t>
            </a:r>
          </a:p>
          <a:p>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FF0000"/>
                </a:solidFill>
                <a:latin typeface="Times New Roman" panose="02020603050405020304" pitchFamily="18" charset="0"/>
                <a:cs typeface="Times New Roman" panose="02020603050405020304" pitchFamily="18" charset="0"/>
              </a:rPr>
              <a:t>p-value = 2*(0.0901) = 0.1802</a:t>
            </a:r>
            <a:r>
              <a:rPr lang="en-US" altLang="en-US" sz="2400" dirty="0">
                <a:latin typeface="Times New Roman" panose="02020603050405020304" pitchFamily="18" charset="0"/>
                <a:cs typeface="Times New Roman" panose="02020603050405020304" pitchFamily="18" charset="0"/>
              </a:rPr>
              <a:t> </a:t>
            </a:r>
          </a:p>
          <a:p>
            <a:r>
              <a:rPr lang="en-US" altLang="en-US" sz="2400" dirty="0">
                <a:latin typeface="Times New Roman" panose="02020603050405020304" pitchFamily="18" charset="0"/>
                <a:cs typeface="Times New Roman" panose="02020603050405020304" pitchFamily="18" charset="0"/>
              </a:rPr>
              <a:t>Since we defined the guts as the center 95%</a:t>
            </a:r>
            <a:r>
              <a:rPr lang="en-US" altLang="en-US" sz="2400" dirty="0">
                <a:solidFill>
                  <a:srgbClr val="D60093"/>
                </a:solidFill>
                <a:latin typeface="Times New Roman" panose="02020603050405020304" pitchFamily="18" charset="0"/>
                <a:cs typeface="Times New Roman" panose="02020603050405020304" pitchFamily="18" charset="0"/>
              </a:rPr>
              <a:t> [</a:t>
            </a:r>
            <a:r>
              <a:rPr lang="en-US" altLang="en-US" sz="2400"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 = 0.05]</a:t>
            </a:r>
            <a:r>
              <a:rPr lang="en-US" altLang="en-US" sz="2400" dirty="0">
                <a:solidFill>
                  <a:srgbClr val="D60093"/>
                </a:solidFill>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 the reject region is the other 5%.  Since our sample mean,     , is in the 18.02% region, it cannot be in our 5% rejection region </a:t>
            </a:r>
            <a:r>
              <a:rPr lang="en-US" altLang="en-US" sz="2400" dirty="0">
                <a:solidFill>
                  <a:srgbClr val="D60093"/>
                </a:solidFill>
                <a:latin typeface="Times New Roman" panose="02020603050405020304" pitchFamily="18" charset="0"/>
                <a:cs typeface="Times New Roman" panose="02020603050405020304" pitchFamily="18" charset="0"/>
              </a:rPr>
              <a:t>[</a:t>
            </a:r>
            <a:r>
              <a:rPr lang="en-US" altLang="en-US" sz="2400"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 = 0.05]</a:t>
            </a:r>
            <a:r>
              <a:rPr lang="en-US" altLang="en-US" sz="2400" dirty="0">
                <a:latin typeface="Times New Roman" panose="02020603050405020304" pitchFamily="18" charset="0"/>
                <a:cs typeface="Times New Roman" panose="02020603050405020304" pitchFamily="18" charset="0"/>
              </a:rPr>
              <a:t>. </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pic>
        <p:nvPicPr>
          <p:cNvPr id="8" name="Picture 4">
            <a:extLst>
              <a:ext uri="{FF2B5EF4-FFF2-40B4-BE49-F238E27FC236}">
                <a16:creationId xmlns:a16="http://schemas.microsoft.com/office/drawing/2014/main" id="{7AE2933F-A8EB-44DD-B08B-D0BF9E7F7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590800"/>
            <a:ext cx="307569" cy="33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a:extLst>
              <a:ext uri="{FF2B5EF4-FFF2-40B4-BE49-F238E27FC236}">
                <a16:creationId xmlns:a16="http://schemas.microsoft.com/office/drawing/2014/main" id="{62C2B760-159F-4253-B098-6D289BA6A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048000"/>
            <a:ext cx="307569" cy="33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a:extLst>
              <a:ext uri="{FF2B5EF4-FFF2-40B4-BE49-F238E27FC236}">
                <a16:creationId xmlns:a16="http://schemas.microsoft.com/office/drawing/2014/main" id="{3E4186A3-5C14-406C-A46F-011ADC4A1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5105400"/>
            <a:ext cx="307569" cy="33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5200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A915DA4-6816-4C09-877B-CA19E065377A}"/>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The p-value approach</a:t>
            </a:r>
          </a:p>
        </p:txBody>
      </p:sp>
      <p:pic>
        <p:nvPicPr>
          <p:cNvPr id="5" name="Picture 5">
            <a:extLst>
              <a:ext uri="{FF2B5EF4-FFF2-40B4-BE49-F238E27FC236}">
                <a16:creationId xmlns:a16="http://schemas.microsoft.com/office/drawing/2014/main" id="{B45FB7AE-6CD4-4FFE-A3C2-0D0F56ED7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81000" y="854075"/>
            <a:ext cx="8534400" cy="5548313"/>
          </a:xfrm>
          <a:prstGeom prst="rect">
            <a:avLst/>
          </a:prstGeom>
          <a:noFill/>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
        <p:nvSpPr>
          <p:cNvPr id="6" name="TextBox 1">
            <a:extLst>
              <a:ext uri="{FF2B5EF4-FFF2-40B4-BE49-F238E27FC236}">
                <a16:creationId xmlns:a16="http://schemas.microsoft.com/office/drawing/2014/main" id="{AA272F0D-D554-4B53-8E84-389097941183}"/>
              </a:ext>
            </a:extLst>
          </p:cNvPr>
          <p:cNvSpPr txBox="1">
            <a:spLocks noChangeArrowheads="1"/>
          </p:cNvSpPr>
          <p:nvPr/>
        </p:nvSpPr>
        <p:spPr bwMode="auto">
          <a:xfrm>
            <a:off x="2362200" y="1905000"/>
            <a:ext cx="1981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solidFill>
                  <a:srgbClr val="FF0000"/>
                </a:solidFill>
              </a:rPr>
              <a:t>“The p-value is low, so let it go (we fail to reject the null hypotheses)”</a:t>
            </a:r>
          </a:p>
        </p:txBody>
      </p:sp>
    </p:spTree>
    <p:extLst>
      <p:ext uri="{BB962C8B-B14F-4D97-AF65-F5344CB8AC3E}">
        <p14:creationId xmlns:p14="http://schemas.microsoft.com/office/powerpoint/2010/main" val="3009302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9E1EAC81-EC22-4C5E-8A2C-5AB1D8F5F0DF}"/>
              </a:ext>
            </a:extLst>
          </p:cNvPr>
          <p:cNvSpPr txBox="1">
            <a:spLocks/>
          </p:cNvSpPr>
          <p:nvPr/>
        </p:nvSpPr>
        <p:spPr>
          <a:xfrm>
            <a:off x="7239000" y="6553200"/>
            <a:ext cx="1905000" cy="3048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914400" rtl="0" eaLnBrk="1" latinLnBrk="0" hangingPunct="1">
              <a:defRPr sz="2400" kern="1200">
                <a:solidFill>
                  <a:schemeClr val="tx1"/>
                </a:solidFill>
                <a:latin typeface="Times" panose="02020603050405020304" pitchFamily="18" charset="0"/>
                <a:ea typeface="+mn-ea"/>
                <a:cs typeface="+mn-cs"/>
              </a:defRPr>
            </a:lvl1pPr>
            <a:lvl2pPr marL="742950" indent="-285750" algn="l" defTabSz="914400" rtl="0" eaLnBrk="1" latinLnBrk="0" hangingPunct="1">
              <a:defRPr sz="2400" kern="1200">
                <a:solidFill>
                  <a:schemeClr val="tx1"/>
                </a:solidFill>
                <a:latin typeface="Times" panose="02020603050405020304" pitchFamily="18" charset="0"/>
                <a:ea typeface="+mn-ea"/>
                <a:cs typeface="+mn-cs"/>
              </a:defRPr>
            </a:lvl2pPr>
            <a:lvl3pPr marL="1143000" indent="-228600" algn="l" defTabSz="914400" rtl="0" eaLnBrk="1" latinLnBrk="0" hangingPunct="1">
              <a:defRPr sz="2400" kern="1200">
                <a:solidFill>
                  <a:schemeClr val="tx1"/>
                </a:solidFill>
                <a:latin typeface="Times" panose="02020603050405020304" pitchFamily="18" charset="0"/>
                <a:ea typeface="+mn-ea"/>
                <a:cs typeface="+mn-cs"/>
              </a:defRPr>
            </a:lvl3pPr>
            <a:lvl4pPr marL="1600200" indent="-228600" algn="l" defTabSz="914400" rtl="0" eaLnBrk="1" latinLnBrk="0" hangingPunct="1">
              <a:defRPr sz="2400" kern="1200">
                <a:solidFill>
                  <a:schemeClr val="tx1"/>
                </a:solidFill>
                <a:latin typeface="Times" panose="02020603050405020304" pitchFamily="18" charset="0"/>
                <a:ea typeface="+mn-ea"/>
                <a:cs typeface="+mn-cs"/>
              </a:defRPr>
            </a:lvl4pPr>
            <a:lvl5pPr marL="2057400" indent="-228600" algn="l" defTabSz="914400" rtl="0" eaLnBrk="1" latinLnBrk="0" hangingPunct="1">
              <a:defRPr sz="2400" kern="1200">
                <a:solidFill>
                  <a:schemeClr val="tx1"/>
                </a:solidFill>
                <a:latin typeface="Times" panose="02020603050405020304" pitchFamily="18" charset="0"/>
                <a:ea typeface="+mn-ea"/>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Times" panose="02020603050405020304" pitchFamily="18" charset="0"/>
                <a:ea typeface="+mn-ea"/>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Times" panose="02020603050405020304" pitchFamily="18" charset="0"/>
                <a:ea typeface="+mn-ea"/>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Times" panose="02020603050405020304" pitchFamily="18" charset="0"/>
                <a:ea typeface="+mn-ea"/>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Times" panose="02020603050405020304" pitchFamily="18" charset="0"/>
                <a:ea typeface="+mn-ea"/>
                <a:cs typeface="+mn-cs"/>
              </a:defRPr>
            </a:lvl9pPr>
          </a:lstStyle>
          <a:p>
            <a:r>
              <a:rPr lang="en-US" altLang="en-US" sz="1200">
                <a:latin typeface="Tahoma" panose="020B0604030504040204" pitchFamily="34" charset="0"/>
              </a:rPr>
              <a:t>11.</a:t>
            </a:r>
            <a:fld id="{A3367715-8892-4EBA-BEFF-9BDFEA61D4E0}" type="slidenum">
              <a:rPr lang="en-US" altLang="en-US" sz="1200" smtClean="0">
                <a:latin typeface="Tahoma" panose="020B0604030504040204" pitchFamily="34" charset="0"/>
              </a:rPr>
              <a:pPr/>
              <a:t>22</a:t>
            </a:fld>
            <a:endParaRPr lang="en-US" altLang="en-US" sz="1200">
              <a:latin typeface="Tahoma" panose="020B0604030504040204" pitchFamily="34" charset="0"/>
            </a:endParaRPr>
          </a:p>
        </p:txBody>
      </p:sp>
      <p:sp>
        <p:nvSpPr>
          <p:cNvPr id="5" name="TextBox 2">
            <a:extLst>
              <a:ext uri="{FF2B5EF4-FFF2-40B4-BE49-F238E27FC236}">
                <a16:creationId xmlns:a16="http://schemas.microsoft.com/office/drawing/2014/main" id="{DD834628-D0B3-4F1E-91B2-6D32D4942963}"/>
              </a:ext>
            </a:extLst>
          </p:cNvPr>
          <p:cNvSpPr txBox="1">
            <a:spLocks noChangeArrowheads="1"/>
          </p:cNvSpPr>
          <p:nvPr/>
        </p:nvSpPr>
        <p:spPr bwMode="auto">
          <a:xfrm>
            <a:off x="152400" y="152400"/>
            <a:ext cx="762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3200" b="1" u="sng" dirty="0"/>
              <a:t>The P-value approach</a:t>
            </a:r>
          </a:p>
        </p:txBody>
      </p:sp>
      <p:sp>
        <p:nvSpPr>
          <p:cNvPr id="6" name="TextBox 5">
            <a:extLst>
              <a:ext uri="{FF2B5EF4-FFF2-40B4-BE49-F238E27FC236}">
                <a16:creationId xmlns:a16="http://schemas.microsoft.com/office/drawing/2014/main" id="{DB169339-2FCC-4B8A-826B-FD18E048222A}"/>
              </a:ext>
            </a:extLst>
          </p:cNvPr>
          <p:cNvSpPr txBox="1">
            <a:spLocks noRot="1" noChangeAspect="1" noMove="1" noResize="1" noEditPoints="1" noAdjustHandles="1" noChangeArrowheads="1" noChangeShapeType="1" noTextEdit="1"/>
          </p:cNvSpPr>
          <p:nvPr/>
        </p:nvSpPr>
        <p:spPr>
          <a:xfrm>
            <a:off x="304800" y="1295400"/>
            <a:ext cx="8077200" cy="1938992"/>
          </a:xfrm>
          <a:prstGeom prst="rect">
            <a:avLst/>
          </a:prstGeom>
          <a:blipFill rotWithShape="0">
            <a:blip r:embed="rId2"/>
            <a:stretch>
              <a:fillRect l="-1132" t="-2516" b="-5975"/>
            </a:stretch>
          </a:blipFill>
        </p:spPr>
        <p:txBody>
          <a:bodyPr/>
          <a:lstStyle/>
          <a:p>
            <a:pPr>
              <a:defRPr/>
            </a:pPr>
            <a:r>
              <a:rPr lang="en-US">
                <a:noFill/>
              </a:rPr>
              <a:t> </a:t>
            </a:r>
          </a:p>
        </p:txBody>
      </p:sp>
      <p:sp>
        <p:nvSpPr>
          <p:cNvPr id="7" name="TextBox 4">
            <a:extLst>
              <a:ext uri="{FF2B5EF4-FFF2-40B4-BE49-F238E27FC236}">
                <a16:creationId xmlns:a16="http://schemas.microsoft.com/office/drawing/2014/main" id="{71742271-B29B-4BF6-889D-7AC8A13F787E}"/>
              </a:ext>
            </a:extLst>
          </p:cNvPr>
          <p:cNvSpPr txBox="1">
            <a:spLocks noChangeArrowheads="1"/>
          </p:cNvSpPr>
          <p:nvPr/>
        </p:nvSpPr>
        <p:spPr bwMode="auto">
          <a:xfrm>
            <a:off x="381000" y="3810000"/>
            <a:ext cx="7620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t>When referring to the p-value…</a:t>
            </a:r>
          </a:p>
          <a:p>
            <a:endParaRPr lang="en-US" altLang="en-US" dirty="0"/>
          </a:p>
          <a:p>
            <a:r>
              <a:rPr lang="en-US" altLang="en-US" dirty="0"/>
              <a:t>“When it’s low, let it go. We reject the null hypotheses.</a:t>
            </a:r>
          </a:p>
          <a:p>
            <a:r>
              <a:rPr lang="en-US" altLang="en-US" dirty="0"/>
              <a:t>When it’s high, let it </a:t>
            </a:r>
            <a:r>
              <a:rPr lang="en-US" altLang="en-US" dirty="0">
                <a:solidFill>
                  <a:srgbClr val="FF0000"/>
                </a:solidFill>
              </a:rPr>
              <a:t>fly</a:t>
            </a:r>
            <a:r>
              <a:rPr lang="en-US" altLang="en-US" dirty="0"/>
              <a:t>, so we </a:t>
            </a:r>
            <a:r>
              <a:rPr lang="en-US" altLang="en-US" dirty="0">
                <a:solidFill>
                  <a:srgbClr val="FF0000"/>
                </a:solidFill>
              </a:rPr>
              <a:t>fail</a:t>
            </a:r>
            <a:r>
              <a:rPr lang="en-US" altLang="en-US" dirty="0"/>
              <a:t> to reject the null hypotheses.”</a:t>
            </a:r>
          </a:p>
        </p:txBody>
      </p:sp>
    </p:spTree>
    <p:extLst>
      <p:ext uri="{BB962C8B-B14F-4D97-AF65-F5344CB8AC3E}">
        <p14:creationId xmlns:p14="http://schemas.microsoft.com/office/powerpoint/2010/main" val="2494701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FA2EED4-5103-4AE5-B0DE-ED9995D63037}"/>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Statistical Conclusions:</a:t>
            </a:r>
          </a:p>
        </p:txBody>
      </p:sp>
      <p:sp>
        <p:nvSpPr>
          <p:cNvPr id="6" name="Rectangle 3">
            <a:extLst>
              <a:ext uri="{FF2B5EF4-FFF2-40B4-BE49-F238E27FC236}">
                <a16:creationId xmlns:a16="http://schemas.microsoft.com/office/drawing/2014/main" id="{6DEF1B0F-522F-4728-8C87-4DC96CE276CB}"/>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r>
              <a:rPr lang="en-US" altLang="en-US" sz="2400" dirty="0">
                <a:solidFill>
                  <a:srgbClr val="FF0000"/>
                </a:solidFill>
                <a:latin typeface="Times New Roman" panose="02020603050405020304" pitchFamily="18" charset="0"/>
                <a:cs typeface="Times New Roman" panose="02020603050405020304" pitchFamily="18" charset="0"/>
              </a:rPr>
              <a:t>Unstandardized Test Statistic:</a:t>
            </a:r>
          </a:p>
          <a:p>
            <a:pPr marL="533400" indent="-533400"/>
            <a:r>
              <a:rPr lang="en-US" altLang="en-US" sz="2400" dirty="0">
                <a:latin typeface="Times New Roman" panose="02020603050405020304" pitchFamily="18" charset="0"/>
                <a:cs typeface="Times New Roman" panose="02020603050405020304" pitchFamily="18" charset="0"/>
              </a:rPr>
              <a:t>	Since LCV (320.6) &lt;      (370.16) &lt; UCV (379.4), we reject the null hypothesis at a 5% level of significance.</a:t>
            </a:r>
          </a:p>
          <a:p>
            <a:pPr marL="533400" indent="-533400"/>
            <a:endParaRPr lang="en-US" altLang="en-US" sz="2400" dirty="0">
              <a:latin typeface="Times New Roman" panose="02020603050405020304" pitchFamily="18" charset="0"/>
              <a:cs typeface="Times New Roman" panose="02020603050405020304" pitchFamily="18" charset="0"/>
            </a:endParaRPr>
          </a:p>
          <a:p>
            <a:pPr marL="533400" indent="-533400"/>
            <a:r>
              <a:rPr lang="en-US" altLang="en-US" sz="2400" dirty="0">
                <a:solidFill>
                  <a:srgbClr val="FF0000"/>
                </a:solidFill>
                <a:latin typeface="Times New Roman" panose="02020603050405020304" pitchFamily="18" charset="0"/>
                <a:cs typeface="Times New Roman" panose="02020603050405020304" pitchFamily="18" charset="0"/>
              </a:rPr>
              <a:t>Standardized Test Statistic:</a:t>
            </a:r>
          </a:p>
          <a:p>
            <a:pPr marL="533400" indent="-533400"/>
            <a:r>
              <a:rPr lang="en-US" altLang="en-US" sz="2400" dirty="0">
                <a:latin typeface="Times New Roman" panose="02020603050405020304" pitchFamily="18" charset="0"/>
                <a:cs typeface="Times New Roman" panose="02020603050405020304" pitchFamily="18" charset="0"/>
              </a:rPr>
              <a:t>	Since -Z</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(-1.96) &lt; Z(1.344) &lt; Z</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(1.96), we fail to reject the null hypothesis at a 5% level of significance.</a:t>
            </a:r>
          </a:p>
          <a:p>
            <a:pPr marL="533400" indent="-533400"/>
            <a:endParaRPr lang="en-US" altLang="en-US" sz="2400" dirty="0">
              <a:latin typeface="Times New Roman" panose="02020603050405020304" pitchFamily="18" charset="0"/>
              <a:cs typeface="Times New Roman" panose="02020603050405020304" pitchFamily="18" charset="0"/>
            </a:endParaRPr>
          </a:p>
          <a:p>
            <a:pPr marL="533400" indent="-533400"/>
            <a:r>
              <a:rPr lang="en-US" altLang="en-US" sz="2400" dirty="0">
                <a:solidFill>
                  <a:srgbClr val="FF0000"/>
                </a:solidFill>
                <a:latin typeface="Times New Roman" panose="02020603050405020304" pitchFamily="18" charset="0"/>
                <a:cs typeface="Times New Roman" panose="02020603050405020304" pitchFamily="18" charset="0"/>
              </a:rPr>
              <a:t>P-value:</a:t>
            </a:r>
          </a:p>
          <a:p>
            <a:pPr marL="533400" indent="-533400"/>
            <a:r>
              <a:rPr lang="en-US" altLang="en-US" sz="2400" dirty="0">
                <a:latin typeface="Times New Roman" panose="02020603050405020304" pitchFamily="18" charset="0"/>
                <a:cs typeface="Times New Roman" panose="02020603050405020304" pitchFamily="18" charset="0"/>
              </a:rPr>
              <a:t>	Since p-value (0.1802) &gt; 0.05 </a:t>
            </a:r>
            <a:r>
              <a:rPr lang="en-US" altLang="en-US" sz="2400" dirty="0">
                <a:solidFill>
                  <a:srgbClr val="D60093"/>
                </a:solidFill>
                <a:latin typeface="Times New Roman" panose="02020603050405020304" pitchFamily="18" charset="0"/>
                <a:cs typeface="Times New Roman" panose="02020603050405020304" pitchFamily="18" charset="0"/>
              </a:rPr>
              <a:t>[</a:t>
            </a:r>
            <a:r>
              <a:rPr lang="en-US" altLang="en-US" sz="2400" dirty="0">
                <a:solidFill>
                  <a:srgbClr val="D60093"/>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400" dirty="0">
                <a:latin typeface="Times New Roman" panose="02020603050405020304" pitchFamily="18" charset="0"/>
                <a:cs typeface="Times New Roman" panose="02020603050405020304" pitchFamily="18" charset="0"/>
              </a:rPr>
              <a:t>, we fail to reject the hull hypothesis at a 5% level of significance.</a:t>
            </a:r>
          </a:p>
          <a:p>
            <a:pPr marL="533400" indent="-533400"/>
            <a:endParaRPr lang="en-US" altLang="en-US" sz="2400" dirty="0">
              <a:latin typeface="Times New Roman" panose="02020603050405020304" pitchFamily="18" charset="0"/>
              <a:cs typeface="Times New Roman" panose="02020603050405020304" pitchFamily="18" charset="0"/>
            </a:endParaRPr>
          </a:p>
        </p:txBody>
      </p:sp>
      <p:pic>
        <p:nvPicPr>
          <p:cNvPr id="7" name="Picture 4">
            <a:extLst>
              <a:ext uri="{FF2B5EF4-FFF2-40B4-BE49-F238E27FC236}">
                <a16:creationId xmlns:a16="http://schemas.microsoft.com/office/drawing/2014/main" id="{110AB7F4-29F0-4F0B-9765-EEC4BD83C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1447800"/>
            <a:ext cx="304800" cy="32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1053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058DC56-AA37-429C-90C8-E2940FD76531}"/>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a:t>
            </a:r>
          </a:p>
        </p:txBody>
      </p:sp>
      <p:sp>
        <p:nvSpPr>
          <p:cNvPr id="5" name="Rectangle 3">
            <a:extLst>
              <a:ext uri="{FF2B5EF4-FFF2-40B4-BE49-F238E27FC236}">
                <a16:creationId xmlns:a16="http://schemas.microsoft.com/office/drawing/2014/main" id="{C1C62547-0535-41E7-BDD2-9255378623E8}"/>
              </a:ext>
            </a:extLst>
          </p:cNvPr>
          <p:cNvSpPr txBox="1">
            <a:spLocks noChangeArrowheads="1"/>
          </p:cNvSpPr>
          <p:nvPr/>
        </p:nvSpPr>
        <p:spPr>
          <a:xfrm>
            <a:off x="273497" y="10668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 department store manager determines that a new billing system will be cost-effective only if the mean monthly account is </a:t>
            </a:r>
            <a:r>
              <a:rPr lang="en-US" altLang="en-US" sz="2400" b="1" i="1" dirty="0">
                <a:solidFill>
                  <a:srgbClr val="FF0000"/>
                </a:solidFill>
                <a:latin typeface="Times New Roman" panose="02020603050405020304" pitchFamily="18" charset="0"/>
                <a:cs typeface="Times New Roman" panose="02020603050405020304" pitchFamily="18" charset="0"/>
              </a:rPr>
              <a:t>more than </a:t>
            </a:r>
            <a:r>
              <a:rPr lang="en-US" altLang="en-US" sz="2400" dirty="0">
                <a:solidFill>
                  <a:srgbClr val="FF0000"/>
                </a:solidFill>
                <a:latin typeface="Times New Roman" panose="02020603050405020304" pitchFamily="18" charset="0"/>
                <a:cs typeface="Times New Roman" panose="02020603050405020304" pitchFamily="18" charset="0"/>
              </a:rPr>
              <a:t>$170</a:t>
            </a:r>
            <a:r>
              <a:rPr lang="en-US" altLang="en-US" sz="2400" dirty="0">
                <a:latin typeface="Times New Roman" panose="02020603050405020304" pitchFamily="18" charset="0"/>
                <a:cs typeface="Times New Roman" panose="02020603050405020304" pitchFamily="18" charset="0"/>
              </a:rPr>
              <a:t>.</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A random sample of 400 monthly accounts is drawn, for which the </a:t>
            </a:r>
            <a:r>
              <a:rPr lang="en-US" altLang="en-US" sz="2400" dirty="0">
                <a:solidFill>
                  <a:srgbClr val="FF0000"/>
                </a:solidFill>
                <a:latin typeface="Times New Roman" panose="02020603050405020304" pitchFamily="18" charset="0"/>
                <a:cs typeface="Times New Roman" panose="02020603050405020304" pitchFamily="18" charset="0"/>
              </a:rPr>
              <a:t>sample mean is $178</a:t>
            </a:r>
            <a:r>
              <a:rPr lang="en-US" altLang="en-US" sz="2400" dirty="0">
                <a:latin typeface="Times New Roman" panose="02020603050405020304" pitchFamily="18" charset="0"/>
                <a:cs typeface="Times New Roman" panose="02020603050405020304" pitchFamily="18" charset="0"/>
              </a:rPr>
              <a:t>. The accounts are approximately normally distributed with a </a:t>
            </a:r>
            <a:r>
              <a:rPr lang="en-US" altLang="en-US" sz="2400" dirty="0">
                <a:solidFill>
                  <a:srgbClr val="FF0000"/>
                </a:solidFill>
                <a:latin typeface="Times New Roman" panose="02020603050405020304" pitchFamily="18" charset="0"/>
                <a:cs typeface="Times New Roman" panose="02020603050405020304" pitchFamily="18" charset="0"/>
              </a:rPr>
              <a:t>standard deviation of $65</a:t>
            </a:r>
            <a:r>
              <a:rPr lang="en-US" altLang="en-US" sz="2400" dirty="0">
                <a:latin typeface="Times New Roman" panose="02020603050405020304" pitchFamily="18" charset="0"/>
                <a:cs typeface="Times New Roman" panose="02020603050405020304" pitchFamily="18" charset="0"/>
              </a:rPr>
              <a:t>.</a:t>
            </a:r>
          </a:p>
          <a:p>
            <a:endParaRPr lang="en-US" altLang="en-US" sz="2400" dirty="0">
              <a:latin typeface="Times New Roman" panose="02020603050405020304" pitchFamily="18" charset="0"/>
              <a:cs typeface="Times New Roman" panose="02020603050405020304" pitchFamily="18" charset="0"/>
            </a:endParaRPr>
          </a:p>
          <a:p>
            <a:pPr algn="ctr"/>
            <a:r>
              <a:rPr lang="en-US" altLang="en-US" sz="2400" b="1" i="1" dirty="0">
                <a:solidFill>
                  <a:srgbClr val="0000FF"/>
                </a:solidFill>
                <a:latin typeface="Times New Roman" panose="02020603050405020304" pitchFamily="18" charset="0"/>
                <a:cs typeface="Times New Roman" panose="02020603050405020304" pitchFamily="18" charset="0"/>
              </a:rPr>
              <a:t>Can we conclude that the new system will be cost-effective?</a:t>
            </a:r>
          </a:p>
        </p:txBody>
      </p:sp>
    </p:spTree>
    <p:extLst>
      <p:ext uri="{BB962C8B-B14F-4D97-AF65-F5344CB8AC3E}">
        <p14:creationId xmlns:p14="http://schemas.microsoft.com/office/powerpoint/2010/main" val="2296424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133F92-C55A-4366-8CFA-FACAA5BBD316}"/>
              </a:ext>
            </a:extLst>
          </p:cNvPr>
          <p:cNvSpPr txBox="1"/>
          <p:nvPr/>
        </p:nvSpPr>
        <p:spPr>
          <a:xfrm>
            <a:off x="228600" y="228600"/>
            <a:ext cx="6705600" cy="584775"/>
          </a:xfrm>
          <a:prstGeom prst="rect">
            <a:avLst/>
          </a:prstGeom>
          <a:noFill/>
        </p:spPr>
        <p:txBody>
          <a:bodyPr>
            <a:spAutoFit/>
          </a:bodyPr>
          <a:lstStyle/>
          <a:p>
            <a:pPr>
              <a:defRPr/>
            </a:pPr>
            <a:r>
              <a:rPr lang="en-US" altLang="en-US" sz="3200" b="1" u="sng" dirty="0">
                <a:solidFill>
                  <a:srgbClr val="000000"/>
                </a:solidFill>
                <a:latin typeface="Times New Roman" panose="02020603050405020304" pitchFamily="18" charset="0"/>
                <a:ea typeface="+mj-ea"/>
                <a:cs typeface="Times New Roman" panose="02020603050405020304" pitchFamily="18" charset="0"/>
              </a:rPr>
              <a:t>Example…</a:t>
            </a:r>
            <a:endParaRPr lang="en-US" sz="32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58C35B-098A-4DAA-939E-5F334080B1CE}"/>
              </a:ext>
            </a:extLst>
          </p:cNvPr>
          <p:cNvSpPr txBox="1">
            <a:spLocks noChangeArrowheads="1"/>
          </p:cNvSpPr>
          <p:nvPr/>
        </p:nvSpPr>
        <p:spPr bwMode="auto">
          <a:xfrm>
            <a:off x="228600" y="990600"/>
            <a:ext cx="8305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t>The system will be cost effective if the mean account balance for all customers is greater than $170. We express this belief as our research hypothesis: </a:t>
            </a:r>
          </a:p>
        </p:txBody>
      </p:sp>
      <p:sp>
        <p:nvSpPr>
          <p:cNvPr id="6" name="TextBox 5">
            <a:extLst>
              <a:ext uri="{FF2B5EF4-FFF2-40B4-BE49-F238E27FC236}">
                <a16:creationId xmlns:a16="http://schemas.microsoft.com/office/drawing/2014/main" id="{C0194871-4D24-4A36-BF65-D2F144173A70}"/>
              </a:ext>
            </a:extLst>
          </p:cNvPr>
          <p:cNvSpPr txBox="1">
            <a:spLocks noRot="1" noChangeAspect="1" noMove="1" noResize="1" noEditPoints="1" noAdjustHandles="1" noChangeArrowheads="1" noChangeShapeType="1" noTextEdit="1"/>
          </p:cNvSpPr>
          <p:nvPr/>
        </p:nvSpPr>
        <p:spPr>
          <a:xfrm>
            <a:off x="2209800" y="2187709"/>
            <a:ext cx="4343400" cy="830997"/>
          </a:xfrm>
          <a:prstGeom prst="rect">
            <a:avLst/>
          </a:prstGeom>
          <a:blipFill rotWithShape="0">
            <a:blip r:embed="rId2"/>
            <a:stretch>
              <a:fillRect b="-2206"/>
            </a:stretch>
          </a:blipFill>
        </p:spPr>
        <p:txBody>
          <a:bodyPr/>
          <a:lstStyle/>
          <a:p>
            <a:pPr>
              <a:defRPr/>
            </a:pPr>
            <a:r>
              <a:rPr lang="en-US">
                <a:noFill/>
              </a:rPr>
              <a:t> </a:t>
            </a:r>
          </a:p>
        </p:txBody>
      </p:sp>
      <p:sp>
        <p:nvSpPr>
          <p:cNvPr id="7" name="TextBox 6">
            <a:extLst>
              <a:ext uri="{FF2B5EF4-FFF2-40B4-BE49-F238E27FC236}">
                <a16:creationId xmlns:a16="http://schemas.microsoft.com/office/drawing/2014/main" id="{A9E4DCCB-ADF6-45E4-9D29-29BC2C874051}"/>
              </a:ext>
            </a:extLst>
          </p:cNvPr>
          <p:cNvSpPr txBox="1">
            <a:spLocks noRot="1" noChangeAspect="1" noMove="1" noResize="1" noEditPoints="1" noAdjustHandles="1" noChangeArrowheads="1" noChangeShapeType="1" noTextEdit="1"/>
          </p:cNvSpPr>
          <p:nvPr/>
        </p:nvSpPr>
        <p:spPr>
          <a:xfrm>
            <a:off x="259724" y="3061722"/>
            <a:ext cx="7817476" cy="2677656"/>
          </a:xfrm>
          <a:prstGeom prst="rect">
            <a:avLst/>
          </a:prstGeom>
          <a:blipFill rotWithShape="0">
            <a:blip r:embed="rId3"/>
            <a:stretch>
              <a:fillRect l="-234" b="-2506"/>
            </a:stretch>
          </a:blipFill>
        </p:spPr>
        <p:txBody>
          <a:bodyPr/>
          <a:lstStyle/>
          <a:p>
            <a:pPr>
              <a:defRPr/>
            </a:pPr>
            <a:r>
              <a:rPr lang="en-US">
                <a:noFill/>
              </a:rPr>
              <a:t> </a:t>
            </a:r>
          </a:p>
        </p:txBody>
      </p:sp>
      <p:pic>
        <p:nvPicPr>
          <p:cNvPr id="8" name="Picture 6">
            <a:extLst>
              <a:ext uri="{FF2B5EF4-FFF2-40B4-BE49-F238E27FC236}">
                <a16:creationId xmlns:a16="http://schemas.microsoft.com/office/drawing/2014/main" id="{88A10DD0-89CE-4AC6-9765-8D39858D0F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3810000"/>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930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41A499C-607A-4F33-A4A2-D15AB5C1A65A}"/>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 The Rejection Region</a:t>
            </a:r>
          </a:p>
        </p:txBody>
      </p:sp>
      <p:sp>
        <p:nvSpPr>
          <p:cNvPr id="5" name="Rectangle 3">
            <a:extLst>
              <a:ext uri="{FF2B5EF4-FFF2-40B4-BE49-F238E27FC236}">
                <a16:creationId xmlns:a16="http://schemas.microsoft.com/office/drawing/2014/main" id="{A91C747E-7DCA-4360-B201-A57596EBE836}"/>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a:t>
            </a:r>
            <a:r>
              <a:rPr lang="en-US" altLang="en-US" sz="2400" b="1" i="1" dirty="0">
                <a:solidFill>
                  <a:srgbClr val="FF0000"/>
                </a:solidFill>
                <a:latin typeface="Times New Roman" panose="02020603050405020304" pitchFamily="18" charset="0"/>
                <a:cs typeface="Times New Roman" panose="02020603050405020304" pitchFamily="18" charset="0"/>
              </a:rPr>
              <a:t>rejection region</a:t>
            </a:r>
            <a:r>
              <a:rPr lang="en-US" altLang="en-US" sz="2400" dirty="0">
                <a:latin typeface="Times New Roman" panose="02020603050405020304" pitchFamily="18" charset="0"/>
                <a:cs typeface="Times New Roman" panose="02020603050405020304" pitchFamily="18" charset="0"/>
              </a:rPr>
              <a:t> is a range of values such that if the test statistic falls into that range, we decide to reject the null hypothesis in favor of the alternative hypothesis.</a:t>
            </a:r>
          </a:p>
        </p:txBody>
      </p:sp>
      <p:pic>
        <p:nvPicPr>
          <p:cNvPr id="6" name="Picture 6">
            <a:extLst>
              <a:ext uri="{FF2B5EF4-FFF2-40B4-BE49-F238E27FC236}">
                <a16:creationId xmlns:a16="http://schemas.microsoft.com/office/drawing/2014/main" id="{B4BB7557-850F-469E-8E64-63BC277C4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044700"/>
            <a:ext cx="63119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a:extLst>
              <a:ext uri="{FF2B5EF4-FFF2-40B4-BE49-F238E27FC236}">
                <a16:creationId xmlns:a16="http://schemas.microsoft.com/office/drawing/2014/main" id="{FBA882F9-DB65-42E1-BF5A-61C83839E908}"/>
              </a:ext>
            </a:extLst>
          </p:cNvPr>
          <p:cNvSpPr txBox="1">
            <a:spLocks noChangeArrowheads="1"/>
          </p:cNvSpPr>
          <p:nvPr/>
        </p:nvSpPr>
        <p:spPr bwMode="auto">
          <a:xfrm>
            <a:off x="825500" y="5484254"/>
            <a:ext cx="576897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spcBef>
                <a:spcPct val="50000"/>
              </a:spcBef>
            </a:pPr>
            <a:r>
              <a:rPr lang="en-US" altLang="en-US" dirty="0"/>
              <a:t>is the critical value of      to reject H</a:t>
            </a:r>
            <a:r>
              <a:rPr lang="en-US" altLang="en-US" baseline="-25000" dirty="0"/>
              <a:t>0</a:t>
            </a:r>
            <a:r>
              <a:rPr lang="en-US" altLang="en-US" dirty="0"/>
              <a:t>.</a:t>
            </a:r>
          </a:p>
        </p:txBody>
      </p:sp>
      <p:pic>
        <p:nvPicPr>
          <p:cNvPr id="9" name="Picture 8">
            <a:extLst>
              <a:ext uri="{FF2B5EF4-FFF2-40B4-BE49-F238E27FC236}">
                <a16:creationId xmlns:a16="http://schemas.microsoft.com/office/drawing/2014/main" id="{8EEAE4EC-039E-4318-B2E4-78CDE383021D}"/>
              </a:ext>
            </a:extLst>
          </p:cNvPr>
          <p:cNvPicPr>
            <a:picLocks noChangeAspect="1"/>
          </p:cNvPicPr>
          <p:nvPr/>
        </p:nvPicPr>
        <p:blipFill>
          <a:blip r:embed="rId3"/>
          <a:stretch>
            <a:fillRect/>
          </a:stretch>
        </p:blipFill>
        <p:spPr>
          <a:xfrm>
            <a:off x="946150" y="5467082"/>
            <a:ext cx="381000" cy="401411"/>
          </a:xfrm>
          <a:prstGeom prst="rect">
            <a:avLst/>
          </a:prstGeom>
        </p:spPr>
      </p:pic>
      <p:pic>
        <p:nvPicPr>
          <p:cNvPr id="10" name="Picture 6">
            <a:extLst>
              <a:ext uri="{FF2B5EF4-FFF2-40B4-BE49-F238E27FC236}">
                <a16:creationId xmlns:a16="http://schemas.microsoft.com/office/drawing/2014/main" id="{B3B47BDD-FA8E-42A2-8386-17E162D7DA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5500129"/>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3814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78F9B6-6A15-4F9B-89A1-7DD140612B56}"/>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a:t>
            </a:r>
          </a:p>
        </p:txBody>
      </p:sp>
      <p:sp>
        <p:nvSpPr>
          <p:cNvPr id="4" name="Rectangle 3">
            <a:extLst>
              <a:ext uri="{FF2B5EF4-FFF2-40B4-BE49-F238E27FC236}">
                <a16:creationId xmlns:a16="http://schemas.microsoft.com/office/drawing/2014/main" id="{E0ECD314-0934-44B2-B177-EC04BAE630A0}"/>
              </a:ext>
            </a:extLst>
          </p:cNvPr>
          <p:cNvSpPr txBox="1">
            <a:spLocks noRot="1" noChangeAspect="1" noMove="1" noResize="1" noEditPoints="1" noAdjustHandles="1" noChangeArrowheads="1" noChangeShapeType="1" noTextEdit="1"/>
          </p:cNvSpPr>
          <p:nvPr/>
        </p:nvSpPr>
        <p:spPr>
          <a:xfrm>
            <a:off x="241300" y="914400"/>
            <a:ext cx="8902700" cy="5486400"/>
          </a:xfrm>
          <a:prstGeom prst="rect">
            <a:avLst/>
          </a:prstGeom>
          <a:blipFill rotWithShape="0">
            <a:blip r:embed="rId2"/>
            <a:stretch>
              <a:fillRect l="-1438" t="-1000"/>
            </a:stretch>
          </a:blipFill>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a:noFill/>
              </a:rPr>
              <a:t> </a:t>
            </a:r>
          </a:p>
        </p:txBody>
      </p:sp>
      <p:pic>
        <p:nvPicPr>
          <p:cNvPr id="6" name="Picture 9">
            <a:extLst>
              <a:ext uri="{FF2B5EF4-FFF2-40B4-BE49-F238E27FC236}">
                <a16:creationId xmlns:a16="http://schemas.microsoft.com/office/drawing/2014/main" id="{0478FA04-B0F8-4346-8D2D-6E09F53AA8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649663"/>
            <a:ext cx="5000625" cy="10572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8">
            <a:extLst>
              <a:ext uri="{FF2B5EF4-FFF2-40B4-BE49-F238E27FC236}">
                <a16:creationId xmlns:a16="http://schemas.microsoft.com/office/drawing/2014/main" id="{ACE97D1C-DC49-47C9-AF9E-548B9E4431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5838825"/>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9449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8C7DD93-994F-4BA2-86DB-AAA2F2362970}"/>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 The Big Picture…</a:t>
            </a:r>
          </a:p>
        </p:txBody>
      </p:sp>
      <p:pic>
        <p:nvPicPr>
          <p:cNvPr id="5" name="Picture 4">
            <a:extLst>
              <a:ext uri="{FF2B5EF4-FFF2-40B4-BE49-F238E27FC236}">
                <a16:creationId xmlns:a16="http://schemas.microsoft.com/office/drawing/2014/main" id="{76C6C9A0-812D-43EF-892F-9F6CD1D16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066800"/>
            <a:ext cx="63119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a:extLst>
              <a:ext uri="{FF2B5EF4-FFF2-40B4-BE49-F238E27FC236}">
                <a16:creationId xmlns:a16="http://schemas.microsoft.com/office/drawing/2014/main" id="{824BCF63-9784-4B76-922B-93BE750D1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648200"/>
            <a:ext cx="4302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2">
            <a:extLst>
              <a:ext uri="{FF2B5EF4-FFF2-40B4-BE49-F238E27FC236}">
                <a16:creationId xmlns:a16="http://schemas.microsoft.com/office/drawing/2014/main" id="{66D48C06-C606-4BB6-8D26-67AE6F745608}"/>
              </a:ext>
            </a:extLst>
          </p:cNvPr>
          <p:cNvSpPr txBox="1">
            <a:spLocks noChangeArrowheads="1"/>
          </p:cNvSpPr>
          <p:nvPr/>
        </p:nvSpPr>
        <p:spPr bwMode="auto">
          <a:xfrm>
            <a:off x="6172200" y="5257800"/>
            <a:ext cx="812800"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a:t>=178</a:t>
            </a:r>
          </a:p>
        </p:txBody>
      </p:sp>
      <p:sp>
        <p:nvSpPr>
          <p:cNvPr id="9" name="Freeform 21">
            <a:extLst>
              <a:ext uri="{FF2B5EF4-FFF2-40B4-BE49-F238E27FC236}">
                <a16:creationId xmlns:a16="http://schemas.microsoft.com/office/drawing/2014/main" id="{B6B1FDBA-7A8B-46AD-ADA6-8CC3558D7648}"/>
              </a:ext>
            </a:extLst>
          </p:cNvPr>
          <p:cNvSpPr>
            <a:spLocks/>
          </p:cNvSpPr>
          <p:nvPr/>
        </p:nvSpPr>
        <p:spPr bwMode="auto">
          <a:xfrm>
            <a:off x="2019300" y="4876800"/>
            <a:ext cx="2360589" cy="1066800"/>
          </a:xfrm>
          <a:custGeom>
            <a:avLst/>
            <a:gdLst>
              <a:gd name="T0" fmla="*/ 2147483646 w 1488"/>
              <a:gd name="T1" fmla="*/ 2147483646 h 816"/>
              <a:gd name="T2" fmla="*/ 2147483646 w 1488"/>
              <a:gd name="T3" fmla="*/ 2147483646 h 816"/>
              <a:gd name="T4" fmla="*/ 0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864" y="816"/>
                </a:moveTo>
                <a:cubicBezTo>
                  <a:pt x="1176" y="716"/>
                  <a:pt x="1488" y="616"/>
                  <a:pt x="1344" y="480"/>
                </a:cubicBezTo>
                <a:cubicBezTo>
                  <a:pt x="1200" y="344"/>
                  <a:pt x="600" y="172"/>
                  <a:pt x="0" y="0"/>
                </a:cubicBezTo>
              </a:path>
            </a:pathLst>
          </a:custGeom>
          <a:noFill/>
          <a:ln w="19050" cap="flat" cmpd="sng">
            <a:solidFill>
              <a:srgbClr val="008000"/>
            </a:solidFill>
            <a:prstDash val="solid"/>
            <a:round/>
            <a:headEnd/>
            <a:tailEnd type="arrow" w="med" len="me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TextBox 9">
            <a:extLst>
              <a:ext uri="{FF2B5EF4-FFF2-40B4-BE49-F238E27FC236}">
                <a16:creationId xmlns:a16="http://schemas.microsoft.com/office/drawing/2014/main" id="{8C2C08C3-9547-4EF0-BEEC-E24633B817DF}"/>
              </a:ext>
            </a:extLst>
          </p:cNvPr>
          <p:cNvSpPr txBox="1">
            <a:spLocks noRot="1" noChangeAspect="1" noMove="1" noResize="1" noEditPoints="1" noAdjustHandles="1" noChangeArrowheads="1" noChangeShapeType="1" noTextEdit="1"/>
          </p:cNvSpPr>
          <p:nvPr/>
        </p:nvSpPr>
        <p:spPr>
          <a:xfrm>
            <a:off x="228600" y="3951101"/>
            <a:ext cx="2002888" cy="461665"/>
          </a:xfrm>
          <a:prstGeom prst="rect">
            <a:avLst/>
          </a:prstGeom>
          <a:blipFill rotWithShape="0">
            <a:blip r:embed="rId4"/>
            <a:stretch>
              <a:fillRect b="-5263"/>
            </a:stretch>
          </a:blipFill>
        </p:spPr>
        <p:txBody>
          <a:bodyPr/>
          <a:lstStyle/>
          <a:p>
            <a:pPr>
              <a:defRPr/>
            </a:pPr>
            <a:r>
              <a:rPr lang="en-US">
                <a:noFill/>
              </a:rPr>
              <a:t> </a:t>
            </a:r>
          </a:p>
        </p:txBody>
      </p:sp>
      <p:sp>
        <p:nvSpPr>
          <p:cNvPr id="11" name="TextBox 10">
            <a:extLst>
              <a:ext uri="{FF2B5EF4-FFF2-40B4-BE49-F238E27FC236}">
                <a16:creationId xmlns:a16="http://schemas.microsoft.com/office/drawing/2014/main" id="{BB6C0539-A2E8-433B-A2E4-D49537DD5407}"/>
              </a:ext>
            </a:extLst>
          </p:cNvPr>
          <p:cNvSpPr txBox="1">
            <a:spLocks noRot="1" noChangeAspect="1" noMove="1" noResize="1" noEditPoints="1" noAdjustHandles="1" noChangeArrowheads="1" noChangeShapeType="1" noTextEdit="1"/>
          </p:cNvSpPr>
          <p:nvPr/>
        </p:nvSpPr>
        <p:spPr>
          <a:xfrm>
            <a:off x="415166" y="4593107"/>
            <a:ext cx="1616835" cy="461665"/>
          </a:xfrm>
          <a:prstGeom prst="rect">
            <a:avLst/>
          </a:prstGeom>
          <a:blipFill rotWithShape="0">
            <a:blip r:embed="rId5"/>
            <a:stretch>
              <a:fillRect r="-1887" b="-5263"/>
            </a:stretch>
          </a:blipFill>
        </p:spPr>
        <p:txBody>
          <a:bodyPr/>
          <a:lstStyle/>
          <a:p>
            <a:pPr>
              <a:defRPr/>
            </a:pPr>
            <a:r>
              <a:rPr lang="en-US">
                <a:noFill/>
              </a:rPr>
              <a:t> </a:t>
            </a:r>
          </a:p>
        </p:txBody>
      </p:sp>
      <p:pic>
        <p:nvPicPr>
          <p:cNvPr id="12" name="Picture 9">
            <a:extLst>
              <a:ext uri="{FF2B5EF4-FFF2-40B4-BE49-F238E27FC236}">
                <a16:creationId xmlns:a16="http://schemas.microsoft.com/office/drawing/2014/main" id="{365848AC-12BA-4F51-8A95-138B00F070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8500" y="5273675"/>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6">
            <a:extLst>
              <a:ext uri="{FF2B5EF4-FFF2-40B4-BE49-F238E27FC236}">
                <a16:creationId xmlns:a16="http://schemas.microsoft.com/office/drawing/2014/main" id="{BB002D70-ADF7-45C0-93B7-4C0AA102E39E}"/>
              </a:ext>
            </a:extLst>
          </p:cNvPr>
          <p:cNvSpPr txBox="1">
            <a:spLocks noChangeArrowheads="1"/>
          </p:cNvSpPr>
          <p:nvPr/>
        </p:nvSpPr>
        <p:spPr bwMode="auto">
          <a:xfrm>
            <a:off x="5105400" y="4648200"/>
            <a:ext cx="1193800"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dirty="0"/>
              <a:t>=175.34</a:t>
            </a:r>
          </a:p>
        </p:txBody>
      </p:sp>
      <p:sp>
        <p:nvSpPr>
          <p:cNvPr id="15" name="Text Box 20">
            <a:extLst>
              <a:ext uri="{FF2B5EF4-FFF2-40B4-BE49-F238E27FC236}">
                <a16:creationId xmlns:a16="http://schemas.microsoft.com/office/drawing/2014/main" id="{BE267229-D6F3-4D27-B504-D57FA4432072}"/>
              </a:ext>
            </a:extLst>
          </p:cNvPr>
          <p:cNvSpPr txBox="1">
            <a:spLocks noChangeArrowheads="1"/>
          </p:cNvSpPr>
          <p:nvPr/>
        </p:nvSpPr>
        <p:spPr bwMode="auto">
          <a:xfrm>
            <a:off x="671513" y="5699125"/>
            <a:ext cx="272097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dirty="0"/>
              <a:t>Reject H</a:t>
            </a:r>
            <a:r>
              <a:rPr lang="en-US" altLang="en-US" baseline="-25000" dirty="0"/>
              <a:t>0</a:t>
            </a:r>
            <a:r>
              <a:rPr lang="en-US" altLang="en-US" dirty="0"/>
              <a:t> in favor of</a:t>
            </a:r>
          </a:p>
        </p:txBody>
      </p:sp>
      <p:sp>
        <p:nvSpPr>
          <p:cNvPr id="16" name="Rectangle 5">
            <a:extLst>
              <a:ext uri="{FF2B5EF4-FFF2-40B4-BE49-F238E27FC236}">
                <a16:creationId xmlns:a16="http://schemas.microsoft.com/office/drawing/2014/main" id="{D3AF5792-619D-4466-848A-240BEAA47CEA}"/>
              </a:ext>
            </a:extLst>
          </p:cNvPr>
          <p:cNvSpPr>
            <a:spLocks noChangeArrowheads="1"/>
          </p:cNvSpPr>
          <p:nvPr/>
        </p:nvSpPr>
        <p:spPr bwMode="auto">
          <a:xfrm>
            <a:off x="4375150" y="4107966"/>
            <a:ext cx="3200400" cy="609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a:p>
        </p:txBody>
      </p:sp>
      <p:sp>
        <p:nvSpPr>
          <p:cNvPr id="17" name="Line 13">
            <a:extLst>
              <a:ext uri="{FF2B5EF4-FFF2-40B4-BE49-F238E27FC236}">
                <a16:creationId xmlns:a16="http://schemas.microsoft.com/office/drawing/2014/main" id="{DB8881B3-CB27-479C-8919-0119495CED26}"/>
              </a:ext>
            </a:extLst>
          </p:cNvPr>
          <p:cNvSpPr>
            <a:spLocks noChangeShapeType="1"/>
          </p:cNvSpPr>
          <p:nvPr/>
        </p:nvSpPr>
        <p:spPr bwMode="auto">
          <a:xfrm flipH="1" flipV="1">
            <a:off x="6400800" y="3657600"/>
            <a:ext cx="0" cy="1600200"/>
          </a:xfrm>
          <a:prstGeom prst="line">
            <a:avLst/>
          </a:prstGeom>
          <a:noFill/>
          <a:ln w="19050">
            <a:solidFill>
              <a:srgbClr val="00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1">
            <a:extLst>
              <a:ext uri="{FF2B5EF4-FFF2-40B4-BE49-F238E27FC236}">
                <a16:creationId xmlns:a16="http://schemas.microsoft.com/office/drawing/2014/main" id="{39CBFE22-CB1C-4320-A9B6-91E4618F8FB4}"/>
              </a:ext>
            </a:extLst>
          </p:cNvPr>
          <p:cNvSpPr>
            <a:spLocks noChangeShapeType="1"/>
          </p:cNvSpPr>
          <p:nvPr/>
        </p:nvSpPr>
        <p:spPr bwMode="auto">
          <a:xfrm flipV="1">
            <a:off x="5105399" y="3886200"/>
            <a:ext cx="673081" cy="869466"/>
          </a:xfrm>
          <a:prstGeom prst="line">
            <a:avLst/>
          </a:prstGeom>
          <a:noFill/>
          <a:ln w="19050">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74708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87ABDBB-52C0-487E-82EC-9C770FF604FF}"/>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Interpreting</a:t>
            </a:r>
            <a:r>
              <a:rPr lang="en-US" altLang="en-US" b="1" u="sng" dirty="0"/>
              <a:t> the p-value…</a:t>
            </a:r>
          </a:p>
        </p:txBody>
      </p:sp>
      <p:sp>
        <p:nvSpPr>
          <p:cNvPr id="5" name="Rectangle 3">
            <a:extLst>
              <a:ext uri="{FF2B5EF4-FFF2-40B4-BE49-F238E27FC236}">
                <a16:creationId xmlns:a16="http://schemas.microsoft.com/office/drawing/2014/main" id="{6081A3C0-F85B-46C4-8DE9-072E1AAF7143}"/>
              </a:ext>
            </a:extLst>
          </p:cNvPr>
          <p:cNvSpPr txBox="1">
            <a:spLocks noChangeArrowheads="1"/>
          </p:cNvSpPr>
          <p:nvPr/>
        </p:nvSpPr>
        <p:spPr>
          <a:xfrm>
            <a:off x="217689" y="10668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altLang="en-US" sz="2400" dirty="0">
                <a:latin typeface="Times New Roman" panose="02020603050405020304" pitchFamily="18" charset="0"/>
                <a:cs typeface="Times New Roman" panose="02020603050405020304" pitchFamily="18" charset="0"/>
              </a:rPr>
              <a:t>The smaller the p-value, the more statistical evidence exists to support the alternative hypothesis.</a:t>
            </a:r>
          </a:p>
          <a:p>
            <a:pPr>
              <a:lnSpc>
                <a:spcPct val="90000"/>
              </a:lnSpc>
              <a:buFontTx/>
              <a:buChar char="•"/>
            </a:pPr>
            <a:r>
              <a:rPr lang="en-US" altLang="en-US" sz="2400" dirty="0">
                <a:latin typeface="Times New Roman" panose="02020603050405020304" pitchFamily="18" charset="0"/>
                <a:cs typeface="Times New Roman" panose="02020603050405020304" pitchFamily="18" charset="0"/>
              </a:rPr>
              <a:t>If the p-value is </a:t>
            </a:r>
            <a:r>
              <a:rPr lang="en-US" altLang="en-US" sz="2400" dirty="0">
                <a:solidFill>
                  <a:srgbClr val="FF0000"/>
                </a:solidFill>
                <a:latin typeface="Times New Roman" panose="02020603050405020304" pitchFamily="18" charset="0"/>
                <a:cs typeface="Times New Roman" panose="02020603050405020304" pitchFamily="18" charset="0"/>
              </a:rPr>
              <a:t>less than 1%,</a:t>
            </a:r>
            <a:r>
              <a:rPr lang="en-US" altLang="en-US" sz="2400" dirty="0">
                <a:latin typeface="Times New Roman" panose="02020603050405020304" pitchFamily="18" charset="0"/>
                <a:cs typeface="Times New Roman" panose="02020603050405020304" pitchFamily="18" charset="0"/>
              </a:rPr>
              <a:t> there is </a:t>
            </a:r>
            <a:r>
              <a:rPr lang="en-US" altLang="en-US" sz="2400" b="1" i="1" dirty="0">
                <a:latin typeface="Times New Roman" panose="02020603050405020304" pitchFamily="18" charset="0"/>
                <a:cs typeface="Times New Roman" panose="02020603050405020304" pitchFamily="18" charset="0"/>
              </a:rPr>
              <a:t>overwhelming evidence</a:t>
            </a:r>
            <a:r>
              <a:rPr lang="en-US" altLang="en-US" sz="2400" dirty="0">
                <a:latin typeface="Times New Roman" panose="02020603050405020304" pitchFamily="18" charset="0"/>
                <a:cs typeface="Times New Roman" panose="02020603050405020304" pitchFamily="18" charset="0"/>
              </a:rPr>
              <a:t> that supports the alternative hypothesis.</a:t>
            </a:r>
          </a:p>
          <a:p>
            <a:pPr>
              <a:lnSpc>
                <a:spcPct val="90000"/>
              </a:lnSpc>
              <a:buFontTx/>
              <a:buChar char="•"/>
            </a:pPr>
            <a:r>
              <a:rPr lang="en-US" altLang="en-US" sz="2400" dirty="0">
                <a:latin typeface="Times New Roman" panose="02020603050405020304" pitchFamily="18" charset="0"/>
                <a:cs typeface="Times New Roman" panose="02020603050405020304" pitchFamily="18" charset="0"/>
              </a:rPr>
              <a:t>If the p-value is </a:t>
            </a:r>
            <a:r>
              <a:rPr lang="en-US" altLang="en-US" sz="2400" dirty="0">
                <a:solidFill>
                  <a:srgbClr val="FF0000"/>
                </a:solidFill>
                <a:latin typeface="Times New Roman" panose="02020603050405020304" pitchFamily="18" charset="0"/>
                <a:cs typeface="Times New Roman" panose="02020603050405020304" pitchFamily="18" charset="0"/>
              </a:rPr>
              <a:t>between 1% and 5%,</a:t>
            </a:r>
            <a:r>
              <a:rPr lang="en-US" altLang="en-US" sz="2400" dirty="0">
                <a:latin typeface="Times New Roman" panose="02020603050405020304" pitchFamily="18" charset="0"/>
                <a:cs typeface="Times New Roman" panose="02020603050405020304" pitchFamily="18" charset="0"/>
              </a:rPr>
              <a:t> there is a </a:t>
            </a:r>
            <a:r>
              <a:rPr lang="en-US" altLang="en-US" sz="2400" b="1" i="1" dirty="0">
                <a:latin typeface="Times New Roman" panose="02020603050405020304" pitchFamily="18" charset="0"/>
                <a:cs typeface="Times New Roman" panose="02020603050405020304" pitchFamily="18" charset="0"/>
              </a:rPr>
              <a:t>strong evidence</a:t>
            </a:r>
            <a:r>
              <a:rPr lang="en-US" altLang="en-US" sz="2400" dirty="0">
                <a:latin typeface="Times New Roman" panose="02020603050405020304" pitchFamily="18" charset="0"/>
                <a:cs typeface="Times New Roman" panose="02020603050405020304" pitchFamily="18" charset="0"/>
              </a:rPr>
              <a:t> that supports the alternative hypothesis.</a:t>
            </a:r>
          </a:p>
          <a:p>
            <a:pPr>
              <a:lnSpc>
                <a:spcPct val="90000"/>
              </a:lnSpc>
              <a:buFontTx/>
              <a:buChar char="•"/>
            </a:pPr>
            <a:r>
              <a:rPr lang="en-US" altLang="en-US" sz="2400" dirty="0">
                <a:latin typeface="Times New Roman" panose="02020603050405020304" pitchFamily="18" charset="0"/>
                <a:cs typeface="Times New Roman" panose="02020603050405020304" pitchFamily="18" charset="0"/>
              </a:rPr>
              <a:t>If the p-value is </a:t>
            </a:r>
            <a:r>
              <a:rPr lang="en-US" altLang="en-US" sz="2400" dirty="0">
                <a:solidFill>
                  <a:srgbClr val="FF0000"/>
                </a:solidFill>
                <a:latin typeface="Times New Roman" panose="02020603050405020304" pitchFamily="18" charset="0"/>
                <a:cs typeface="Times New Roman" panose="02020603050405020304" pitchFamily="18" charset="0"/>
              </a:rPr>
              <a:t>between</a:t>
            </a: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FF0000"/>
                </a:solidFill>
                <a:latin typeface="Times New Roman" panose="02020603050405020304" pitchFamily="18" charset="0"/>
                <a:cs typeface="Times New Roman" panose="02020603050405020304" pitchFamily="18" charset="0"/>
              </a:rPr>
              <a:t>5% and 10%</a:t>
            </a:r>
            <a:r>
              <a:rPr lang="en-US" altLang="en-US" sz="2400" dirty="0">
                <a:latin typeface="Times New Roman" panose="02020603050405020304" pitchFamily="18" charset="0"/>
                <a:cs typeface="Times New Roman" panose="02020603050405020304" pitchFamily="18" charset="0"/>
              </a:rPr>
              <a:t> there is a </a:t>
            </a:r>
            <a:r>
              <a:rPr lang="en-US" altLang="en-US" sz="2400" b="1" i="1" dirty="0">
                <a:latin typeface="Times New Roman" panose="02020603050405020304" pitchFamily="18" charset="0"/>
                <a:cs typeface="Times New Roman" panose="02020603050405020304" pitchFamily="18" charset="0"/>
              </a:rPr>
              <a:t>weak evidence</a:t>
            </a:r>
            <a:r>
              <a:rPr lang="en-US" altLang="en-US" sz="2400" dirty="0">
                <a:latin typeface="Times New Roman" panose="02020603050405020304" pitchFamily="18" charset="0"/>
                <a:cs typeface="Times New Roman" panose="02020603050405020304" pitchFamily="18" charset="0"/>
              </a:rPr>
              <a:t> that supports the alternative hypothesis.</a:t>
            </a:r>
          </a:p>
          <a:p>
            <a:pPr>
              <a:lnSpc>
                <a:spcPct val="90000"/>
              </a:lnSpc>
              <a:buFontTx/>
              <a:buChar char="•"/>
            </a:pPr>
            <a:r>
              <a:rPr lang="en-US" altLang="en-US" sz="2400" dirty="0">
                <a:latin typeface="Times New Roman" panose="02020603050405020304" pitchFamily="18" charset="0"/>
                <a:cs typeface="Times New Roman" panose="02020603050405020304" pitchFamily="18" charset="0"/>
              </a:rPr>
              <a:t>If the p-value </a:t>
            </a:r>
            <a:r>
              <a:rPr lang="en-US" altLang="en-US" sz="2400" dirty="0">
                <a:solidFill>
                  <a:srgbClr val="FF0000"/>
                </a:solidFill>
                <a:latin typeface="Times New Roman" panose="02020603050405020304" pitchFamily="18" charset="0"/>
                <a:cs typeface="Times New Roman" panose="02020603050405020304" pitchFamily="18" charset="0"/>
              </a:rPr>
              <a:t>exceeds 10%,</a:t>
            </a:r>
            <a:r>
              <a:rPr lang="en-US" altLang="en-US" sz="2400" dirty="0">
                <a:latin typeface="Times New Roman" panose="02020603050405020304" pitchFamily="18" charset="0"/>
                <a:cs typeface="Times New Roman" panose="02020603050405020304" pitchFamily="18" charset="0"/>
              </a:rPr>
              <a:t> there is </a:t>
            </a:r>
            <a:r>
              <a:rPr lang="en-US" altLang="en-US" sz="2400" b="1" i="1" dirty="0">
                <a:latin typeface="Times New Roman" panose="02020603050405020304" pitchFamily="18" charset="0"/>
                <a:cs typeface="Times New Roman" panose="02020603050405020304" pitchFamily="18" charset="0"/>
              </a:rPr>
              <a:t>no evidence</a:t>
            </a:r>
            <a:r>
              <a:rPr lang="en-US" altLang="en-US" sz="2400" dirty="0">
                <a:latin typeface="Times New Roman" panose="02020603050405020304" pitchFamily="18" charset="0"/>
                <a:cs typeface="Times New Roman" panose="02020603050405020304" pitchFamily="18" charset="0"/>
              </a:rPr>
              <a:t> that supports the alternative hypothesis.</a:t>
            </a:r>
          </a:p>
          <a:p>
            <a:pPr>
              <a:lnSpc>
                <a:spcPct val="90000"/>
              </a:lnSpc>
            </a:pPr>
            <a:r>
              <a:rPr lang="en-US" altLang="en-US" sz="2400" b="1" i="1" dirty="0">
                <a:solidFill>
                  <a:srgbClr val="0000FF"/>
                </a:solidFill>
                <a:latin typeface="Times New Roman" panose="02020603050405020304" pitchFamily="18" charset="0"/>
                <a:cs typeface="Times New Roman" panose="02020603050405020304" pitchFamily="18" charset="0"/>
              </a:rPr>
              <a:t>We observe a p-value of .0069, hence there is </a:t>
            </a:r>
            <a:r>
              <a:rPr lang="en-US" altLang="en-US" sz="2400" b="1" i="1" dirty="0">
                <a:solidFill>
                  <a:srgbClr val="FF0000"/>
                </a:solidFill>
                <a:latin typeface="Times New Roman" panose="02020603050405020304" pitchFamily="18" charset="0"/>
                <a:cs typeface="Times New Roman" panose="02020603050405020304" pitchFamily="18" charset="0"/>
              </a:rPr>
              <a:t>overwhelming evidence</a:t>
            </a:r>
            <a:r>
              <a:rPr lang="en-US" altLang="en-US" sz="2400" b="1" i="1" dirty="0">
                <a:solidFill>
                  <a:srgbClr val="0000FF"/>
                </a:solidFill>
                <a:latin typeface="Times New Roman" panose="02020603050405020304" pitchFamily="18" charset="0"/>
                <a:cs typeface="Times New Roman" panose="02020603050405020304" pitchFamily="18" charset="0"/>
              </a:rPr>
              <a:t> to support H</a:t>
            </a:r>
            <a:r>
              <a:rPr lang="en-US" altLang="en-US" sz="2400" b="1" i="1" baseline="-25000" dirty="0">
                <a:solidFill>
                  <a:srgbClr val="0000FF"/>
                </a:solidFill>
                <a:latin typeface="Times New Roman" panose="02020603050405020304" pitchFamily="18" charset="0"/>
                <a:cs typeface="Times New Roman" panose="02020603050405020304" pitchFamily="18" charset="0"/>
              </a:rPr>
              <a:t>A</a:t>
            </a:r>
            <a:r>
              <a:rPr lang="en-US" altLang="en-US" sz="2400" b="1" i="1" dirty="0">
                <a:solidFill>
                  <a:srgbClr val="0000FF"/>
                </a:solidFill>
                <a:latin typeface="Times New Roman" panose="02020603050405020304" pitchFamily="18" charset="0"/>
                <a:cs typeface="Times New Roman" panose="02020603050405020304" pitchFamily="18" charset="0"/>
              </a:rPr>
              <a:t>:    &gt; $170.</a:t>
            </a:r>
            <a:endParaRPr lang="en-US" altLang="en-US" sz="2400" dirty="0">
              <a:latin typeface="Times New Roman" panose="02020603050405020304" pitchFamily="18" charset="0"/>
              <a:cs typeface="Times New Roman" panose="02020603050405020304" pitchFamily="18" charset="0"/>
            </a:endParaRPr>
          </a:p>
        </p:txBody>
      </p:sp>
      <p:pic>
        <p:nvPicPr>
          <p:cNvPr id="6" name="Picture 7">
            <a:extLst>
              <a:ext uri="{FF2B5EF4-FFF2-40B4-BE49-F238E27FC236}">
                <a16:creationId xmlns:a16="http://schemas.microsoft.com/office/drawing/2014/main" id="{500BC217-4528-471D-85E6-D021A1319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5105400"/>
            <a:ext cx="304800" cy="338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5833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CD6F45EA-6ACB-419E-81C6-7EFF8C5E83DE}"/>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Interpreting the p-value…</a:t>
            </a:r>
          </a:p>
        </p:txBody>
      </p:sp>
      <p:sp>
        <p:nvSpPr>
          <p:cNvPr id="5" name="Rectangle 4">
            <a:extLst>
              <a:ext uri="{FF2B5EF4-FFF2-40B4-BE49-F238E27FC236}">
                <a16:creationId xmlns:a16="http://schemas.microsoft.com/office/drawing/2014/main" id="{AC78BB67-6D8C-4D00-995F-0138A6108605}"/>
              </a:ext>
            </a:extLst>
          </p:cNvPr>
          <p:cNvSpPr>
            <a:spLocks noChangeArrowheads="1"/>
          </p:cNvSpPr>
          <p:nvPr/>
        </p:nvSpPr>
        <p:spPr bwMode="auto">
          <a:xfrm>
            <a:off x="0" y="4648200"/>
            <a:ext cx="9144000" cy="1143000"/>
          </a:xfrm>
          <a:prstGeom prst="rect">
            <a:avLst/>
          </a:prstGeom>
          <a:gradFill rotWithShape="0">
            <a:gsLst>
              <a:gs pos="0">
                <a:schemeClr val="tx1"/>
              </a:gs>
              <a:gs pos="100000">
                <a:srgbClr val="E6E6E6"/>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a:p>
        </p:txBody>
      </p:sp>
      <p:sp>
        <p:nvSpPr>
          <p:cNvPr id="6" name="Text Box 5">
            <a:extLst>
              <a:ext uri="{FF2B5EF4-FFF2-40B4-BE49-F238E27FC236}">
                <a16:creationId xmlns:a16="http://schemas.microsoft.com/office/drawing/2014/main" id="{537E8A40-F022-4789-B85F-5243239336AE}"/>
              </a:ext>
            </a:extLst>
          </p:cNvPr>
          <p:cNvSpPr txBox="1">
            <a:spLocks noChangeArrowheads="1"/>
          </p:cNvSpPr>
          <p:nvPr/>
        </p:nvSpPr>
        <p:spPr bwMode="auto">
          <a:xfrm>
            <a:off x="304800" y="914400"/>
            <a:ext cx="3219450" cy="8223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t>Overwhelming Evidence</a:t>
            </a:r>
          </a:p>
          <a:p>
            <a:r>
              <a:rPr lang="en-US" altLang="en-US" dirty="0"/>
              <a:t>(Highly Significant)</a:t>
            </a:r>
          </a:p>
        </p:txBody>
      </p:sp>
      <p:sp>
        <p:nvSpPr>
          <p:cNvPr id="7" name="Text Box 6">
            <a:extLst>
              <a:ext uri="{FF2B5EF4-FFF2-40B4-BE49-F238E27FC236}">
                <a16:creationId xmlns:a16="http://schemas.microsoft.com/office/drawing/2014/main" id="{C9C9FA21-38CA-4512-9933-2CED195D1FC2}"/>
              </a:ext>
            </a:extLst>
          </p:cNvPr>
          <p:cNvSpPr txBox="1">
            <a:spLocks noChangeArrowheads="1"/>
          </p:cNvSpPr>
          <p:nvPr/>
        </p:nvSpPr>
        <p:spPr bwMode="auto">
          <a:xfrm>
            <a:off x="2286000" y="1752600"/>
            <a:ext cx="2205038" cy="8223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dirty="0"/>
              <a:t>Strong Evidence</a:t>
            </a:r>
          </a:p>
          <a:p>
            <a:r>
              <a:rPr lang="en-US" altLang="en-US" dirty="0"/>
              <a:t>(Significant)</a:t>
            </a:r>
          </a:p>
        </p:txBody>
      </p:sp>
      <p:sp>
        <p:nvSpPr>
          <p:cNvPr id="8" name="Text Box 7">
            <a:extLst>
              <a:ext uri="{FF2B5EF4-FFF2-40B4-BE49-F238E27FC236}">
                <a16:creationId xmlns:a16="http://schemas.microsoft.com/office/drawing/2014/main" id="{05FC02D2-A63E-4A6F-8DD8-AD1F080A2466}"/>
              </a:ext>
            </a:extLst>
          </p:cNvPr>
          <p:cNvSpPr txBox="1">
            <a:spLocks noChangeArrowheads="1"/>
          </p:cNvSpPr>
          <p:nvPr/>
        </p:nvSpPr>
        <p:spPr bwMode="auto">
          <a:xfrm>
            <a:off x="3962400" y="2819400"/>
            <a:ext cx="2255838" cy="8223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a:t>Weak Evidence</a:t>
            </a:r>
          </a:p>
          <a:p>
            <a:r>
              <a:rPr lang="en-US" altLang="en-US"/>
              <a:t>(Not Significant)</a:t>
            </a:r>
          </a:p>
        </p:txBody>
      </p:sp>
      <p:sp>
        <p:nvSpPr>
          <p:cNvPr id="9" name="Text Box 8">
            <a:extLst>
              <a:ext uri="{FF2B5EF4-FFF2-40B4-BE49-F238E27FC236}">
                <a16:creationId xmlns:a16="http://schemas.microsoft.com/office/drawing/2014/main" id="{381E77AD-3A6D-45CB-A179-655C722E3F59}"/>
              </a:ext>
            </a:extLst>
          </p:cNvPr>
          <p:cNvSpPr txBox="1">
            <a:spLocks noChangeArrowheads="1"/>
          </p:cNvSpPr>
          <p:nvPr/>
        </p:nvSpPr>
        <p:spPr bwMode="auto">
          <a:xfrm>
            <a:off x="6888163" y="3810000"/>
            <a:ext cx="2255837" cy="8223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a:t>No Evidence</a:t>
            </a:r>
          </a:p>
          <a:p>
            <a:r>
              <a:rPr lang="en-US" altLang="en-US"/>
              <a:t>(Not Significant)</a:t>
            </a:r>
          </a:p>
        </p:txBody>
      </p:sp>
      <p:sp>
        <p:nvSpPr>
          <p:cNvPr id="10" name="Text Box 11">
            <a:extLst>
              <a:ext uri="{FF2B5EF4-FFF2-40B4-BE49-F238E27FC236}">
                <a16:creationId xmlns:a16="http://schemas.microsoft.com/office/drawing/2014/main" id="{D41C48D3-6C04-4F4B-B7E3-C909E76776CE}"/>
              </a:ext>
            </a:extLst>
          </p:cNvPr>
          <p:cNvSpPr txBox="1">
            <a:spLocks noChangeArrowheads="1"/>
          </p:cNvSpPr>
          <p:nvPr/>
        </p:nvSpPr>
        <p:spPr bwMode="auto">
          <a:xfrm>
            <a:off x="0" y="5029200"/>
            <a:ext cx="9144000"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a:solidFill>
                  <a:srgbClr val="FFFFFF"/>
                </a:solidFill>
              </a:rPr>
              <a:t>0 </a:t>
            </a:r>
            <a:r>
              <a:rPr lang="en-US" altLang="en-US"/>
              <a:t>                           .01                            .05                     .10</a:t>
            </a:r>
          </a:p>
        </p:txBody>
      </p:sp>
      <p:sp>
        <p:nvSpPr>
          <p:cNvPr id="11" name="Line 12">
            <a:extLst>
              <a:ext uri="{FF2B5EF4-FFF2-40B4-BE49-F238E27FC236}">
                <a16:creationId xmlns:a16="http://schemas.microsoft.com/office/drawing/2014/main" id="{71B6DFE7-006B-463A-9495-9E409134D3D8}"/>
              </a:ext>
            </a:extLst>
          </p:cNvPr>
          <p:cNvSpPr>
            <a:spLocks noChangeShapeType="1"/>
          </p:cNvSpPr>
          <p:nvPr/>
        </p:nvSpPr>
        <p:spPr bwMode="auto">
          <a:xfrm>
            <a:off x="1143000" y="1981200"/>
            <a:ext cx="609600" cy="320040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13">
            <a:extLst>
              <a:ext uri="{FF2B5EF4-FFF2-40B4-BE49-F238E27FC236}">
                <a16:creationId xmlns:a16="http://schemas.microsoft.com/office/drawing/2014/main" id="{B545AFF7-808B-4E09-9029-5AC0F044C7A3}"/>
              </a:ext>
            </a:extLst>
          </p:cNvPr>
          <p:cNvSpPr>
            <a:spLocks noChangeShapeType="1"/>
          </p:cNvSpPr>
          <p:nvPr/>
        </p:nvSpPr>
        <p:spPr bwMode="auto">
          <a:xfrm>
            <a:off x="3276600" y="2590800"/>
            <a:ext cx="838200" cy="251460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14">
            <a:extLst>
              <a:ext uri="{FF2B5EF4-FFF2-40B4-BE49-F238E27FC236}">
                <a16:creationId xmlns:a16="http://schemas.microsoft.com/office/drawing/2014/main" id="{5E34E2F1-D0DF-4E35-BC8B-4A974AD53212}"/>
              </a:ext>
            </a:extLst>
          </p:cNvPr>
          <p:cNvSpPr>
            <a:spLocks noChangeShapeType="1"/>
          </p:cNvSpPr>
          <p:nvPr/>
        </p:nvSpPr>
        <p:spPr bwMode="auto">
          <a:xfrm>
            <a:off x="5334000" y="3657600"/>
            <a:ext cx="1219200" cy="152400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5">
            <a:extLst>
              <a:ext uri="{FF2B5EF4-FFF2-40B4-BE49-F238E27FC236}">
                <a16:creationId xmlns:a16="http://schemas.microsoft.com/office/drawing/2014/main" id="{BE816EEC-BFB4-410A-8312-B2FBF6316F39}"/>
              </a:ext>
            </a:extLst>
          </p:cNvPr>
          <p:cNvSpPr>
            <a:spLocks noChangeShapeType="1"/>
          </p:cNvSpPr>
          <p:nvPr/>
        </p:nvSpPr>
        <p:spPr bwMode="auto">
          <a:xfrm>
            <a:off x="8229600" y="4800600"/>
            <a:ext cx="457200" cy="457200"/>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Text Box 16">
            <a:extLst>
              <a:ext uri="{FF2B5EF4-FFF2-40B4-BE49-F238E27FC236}">
                <a16:creationId xmlns:a16="http://schemas.microsoft.com/office/drawing/2014/main" id="{0112FA8F-572D-4FAA-A812-7375F16E76B8}"/>
              </a:ext>
            </a:extLst>
          </p:cNvPr>
          <p:cNvSpPr txBox="1">
            <a:spLocks noChangeArrowheads="1"/>
          </p:cNvSpPr>
          <p:nvPr/>
        </p:nvSpPr>
        <p:spPr bwMode="auto">
          <a:xfrm>
            <a:off x="1438275" y="5943600"/>
            <a:ext cx="1212850"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b="1">
                <a:solidFill>
                  <a:srgbClr val="FF0000"/>
                </a:solidFill>
              </a:rPr>
              <a:t>p=.0069</a:t>
            </a:r>
          </a:p>
        </p:txBody>
      </p:sp>
      <p:sp>
        <p:nvSpPr>
          <p:cNvPr id="16" name="Line 17">
            <a:extLst>
              <a:ext uri="{FF2B5EF4-FFF2-40B4-BE49-F238E27FC236}">
                <a16:creationId xmlns:a16="http://schemas.microsoft.com/office/drawing/2014/main" id="{A9C555F2-0442-4395-A5A4-D91E0C875E58}"/>
              </a:ext>
            </a:extLst>
          </p:cNvPr>
          <p:cNvSpPr>
            <a:spLocks noChangeShapeType="1"/>
          </p:cNvSpPr>
          <p:nvPr/>
        </p:nvSpPr>
        <p:spPr bwMode="auto">
          <a:xfrm flipH="1" flipV="1">
            <a:off x="1447800" y="5181600"/>
            <a:ext cx="533400" cy="838200"/>
          </a:xfrm>
          <a:prstGeom prst="line">
            <a:avLst/>
          </a:prstGeom>
          <a:noFill/>
          <a:ln w="19050">
            <a:solidFill>
              <a:srgbClr val="FF0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552037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E5E50C8-D853-482B-89E0-2F2E2AF66CAB}"/>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Conclusions of a Test of Hypothesis…</a:t>
            </a:r>
          </a:p>
        </p:txBody>
      </p:sp>
      <p:sp>
        <p:nvSpPr>
          <p:cNvPr id="5" name="Rectangle 3">
            <a:extLst>
              <a:ext uri="{FF2B5EF4-FFF2-40B4-BE49-F238E27FC236}">
                <a16:creationId xmlns:a16="http://schemas.microsoft.com/office/drawing/2014/main" id="{68246718-68BE-486A-A5DE-15B1852C2CCA}"/>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If we </a:t>
            </a:r>
            <a:r>
              <a:rPr lang="en-US" altLang="en-US" sz="2400" dirty="0">
                <a:solidFill>
                  <a:srgbClr val="FF0000"/>
                </a:solidFill>
                <a:latin typeface="Times New Roman" panose="02020603050405020304" pitchFamily="18" charset="0"/>
                <a:cs typeface="Times New Roman" panose="02020603050405020304" pitchFamily="18" charset="0"/>
              </a:rPr>
              <a:t>reject the null</a:t>
            </a:r>
            <a:r>
              <a:rPr lang="en-US" altLang="en-US" sz="2400" dirty="0">
                <a:latin typeface="Times New Roman" panose="02020603050405020304" pitchFamily="18" charset="0"/>
                <a:cs typeface="Times New Roman" panose="02020603050405020304" pitchFamily="18" charset="0"/>
              </a:rPr>
              <a:t> hypothesis, we conclude that there is enough evidence to infer that the alternative hypothesis is true.</a:t>
            </a: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If we </a:t>
            </a:r>
            <a:r>
              <a:rPr lang="en-US" altLang="en-US" sz="2400" dirty="0">
                <a:solidFill>
                  <a:srgbClr val="FF0000"/>
                </a:solidFill>
                <a:latin typeface="Times New Roman" panose="02020603050405020304" pitchFamily="18" charset="0"/>
                <a:cs typeface="Times New Roman" panose="02020603050405020304" pitchFamily="18" charset="0"/>
              </a:rPr>
              <a:t>fail to reject the null</a:t>
            </a:r>
            <a:r>
              <a:rPr lang="en-US" altLang="en-US" sz="2400" dirty="0">
                <a:latin typeface="Times New Roman" panose="02020603050405020304" pitchFamily="18" charset="0"/>
                <a:cs typeface="Times New Roman" panose="02020603050405020304" pitchFamily="18" charset="0"/>
              </a:rPr>
              <a:t> hypothesis, we conclude that there is not enough statistical evidence to infer that the alternative hypothesis is true. </a:t>
            </a:r>
            <a:r>
              <a:rPr lang="en-US" altLang="en-US" sz="2400" dirty="0">
                <a:solidFill>
                  <a:srgbClr val="0000FF"/>
                </a:solidFill>
                <a:latin typeface="Times New Roman" panose="02020603050405020304" pitchFamily="18" charset="0"/>
                <a:cs typeface="Times New Roman" panose="02020603050405020304" pitchFamily="18" charset="0"/>
              </a:rPr>
              <a:t>This does not mean that we have proven that the null hypothesis is true!</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solidFill>
                  <a:srgbClr val="D60093"/>
                </a:solidFill>
                <a:latin typeface="Times New Roman" panose="02020603050405020304" pitchFamily="18" charset="0"/>
                <a:cs typeface="Times New Roman" panose="02020603050405020304" pitchFamily="18" charset="0"/>
              </a:rPr>
              <a:t>Keep in mind that committing a </a:t>
            </a:r>
            <a:r>
              <a:rPr lang="en-US" altLang="en-US" sz="2400" b="1" u="sng" dirty="0">
                <a:solidFill>
                  <a:srgbClr val="D60093"/>
                </a:solidFill>
                <a:latin typeface="Times New Roman" panose="02020603050405020304" pitchFamily="18" charset="0"/>
                <a:cs typeface="Times New Roman" panose="02020603050405020304" pitchFamily="18" charset="0"/>
              </a:rPr>
              <a:t>Type I error</a:t>
            </a:r>
            <a:r>
              <a:rPr lang="en-US" altLang="en-US" sz="2400" dirty="0">
                <a:solidFill>
                  <a:srgbClr val="D60093"/>
                </a:solidFill>
                <a:latin typeface="Times New Roman" panose="02020603050405020304" pitchFamily="18" charset="0"/>
                <a:cs typeface="Times New Roman" panose="02020603050405020304" pitchFamily="18" charset="0"/>
              </a:rPr>
              <a:t> OR a </a:t>
            </a:r>
            <a:r>
              <a:rPr lang="en-US" altLang="en-US" sz="2400" b="1" u="sng" dirty="0">
                <a:solidFill>
                  <a:srgbClr val="D60093"/>
                </a:solidFill>
                <a:latin typeface="Times New Roman" panose="02020603050405020304" pitchFamily="18" charset="0"/>
                <a:cs typeface="Times New Roman" panose="02020603050405020304" pitchFamily="18" charset="0"/>
              </a:rPr>
              <a:t>Type II error</a:t>
            </a:r>
            <a:r>
              <a:rPr lang="en-US" altLang="en-US" sz="2400" dirty="0">
                <a:solidFill>
                  <a:srgbClr val="D60093"/>
                </a:solidFill>
                <a:latin typeface="Times New Roman" panose="02020603050405020304" pitchFamily="18" charset="0"/>
                <a:cs typeface="Times New Roman" panose="02020603050405020304" pitchFamily="18" charset="0"/>
              </a:rPr>
              <a:t> can be </a:t>
            </a:r>
            <a:r>
              <a:rPr lang="en-US" altLang="en-US" sz="2400" b="1" u="sng" dirty="0">
                <a:solidFill>
                  <a:srgbClr val="D60093"/>
                </a:solidFill>
                <a:latin typeface="Times New Roman" panose="02020603050405020304" pitchFamily="18" charset="0"/>
                <a:cs typeface="Times New Roman" panose="02020603050405020304" pitchFamily="18" charset="0"/>
              </a:rPr>
              <a:t>VERY</a:t>
            </a:r>
            <a:r>
              <a:rPr lang="en-US" altLang="en-US" sz="2400" dirty="0">
                <a:solidFill>
                  <a:srgbClr val="D60093"/>
                </a:solidFill>
                <a:latin typeface="Times New Roman" panose="02020603050405020304" pitchFamily="18" charset="0"/>
                <a:cs typeface="Times New Roman" panose="02020603050405020304" pitchFamily="18" charset="0"/>
              </a:rPr>
              <a:t> bad depending on the problem.</a:t>
            </a:r>
          </a:p>
        </p:txBody>
      </p:sp>
    </p:spTree>
    <p:extLst>
      <p:ext uri="{BB962C8B-B14F-4D97-AF65-F5344CB8AC3E}">
        <p14:creationId xmlns:p14="http://schemas.microsoft.com/office/powerpoint/2010/main" val="1368613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16C65DB-A17B-4DA4-9685-7D02D1DA023C}"/>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One tail test with rejection region on right </a:t>
            </a:r>
          </a:p>
        </p:txBody>
      </p:sp>
      <p:sp>
        <p:nvSpPr>
          <p:cNvPr id="5" name="Rectangle 3">
            <a:extLst>
              <a:ext uri="{FF2B5EF4-FFF2-40B4-BE49-F238E27FC236}">
                <a16:creationId xmlns:a16="http://schemas.microsoft.com/office/drawing/2014/main" id="{AB9D0B78-A801-4AEC-A3D7-13E8C1616B90}"/>
              </a:ext>
            </a:extLst>
          </p:cNvPr>
          <p:cNvSpPr txBox="1">
            <a:spLocks noRot="1" noChangeAspect="1" noMove="1" noResize="1" noEditPoints="1" noAdjustHandles="1" noChangeArrowheads="1" noChangeShapeType="1" noTextEdit="1"/>
          </p:cNvSpPr>
          <p:nvPr/>
        </p:nvSpPr>
        <p:spPr>
          <a:xfrm>
            <a:off x="241300" y="914400"/>
            <a:ext cx="8902700" cy="5486400"/>
          </a:xfrm>
          <a:prstGeom prst="rect">
            <a:avLst/>
          </a:prstGeom>
          <a:blipFill rotWithShape="0">
            <a:blip r:embed="rId2"/>
            <a:stretch>
              <a:fillRect l="-1438" t="-1111" r="-822"/>
            </a:stretch>
          </a:blipFill>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a:noFill/>
              </a:rPr>
              <a:t> </a:t>
            </a:r>
          </a:p>
        </p:txBody>
      </p:sp>
      <p:grpSp>
        <p:nvGrpSpPr>
          <p:cNvPr id="6" name="Group 4">
            <a:extLst>
              <a:ext uri="{FF2B5EF4-FFF2-40B4-BE49-F238E27FC236}">
                <a16:creationId xmlns:a16="http://schemas.microsoft.com/office/drawing/2014/main" id="{F221748C-7075-4021-90AA-031EA69B75B4}"/>
              </a:ext>
            </a:extLst>
          </p:cNvPr>
          <p:cNvGrpSpPr>
            <a:grpSpLocks/>
          </p:cNvGrpSpPr>
          <p:nvPr/>
        </p:nvGrpSpPr>
        <p:grpSpPr bwMode="auto">
          <a:xfrm>
            <a:off x="2552700" y="2362200"/>
            <a:ext cx="4038600" cy="2133600"/>
            <a:chOff x="144" y="2160"/>
            <a:chExt cx="2544" cy="1344"/>
          </a:xfrm>
        </p:grpSpPr>
        <p:pic>
          <p:nvPicPr>
            <p:cNvPr id="7" name="Picture 5">
              <a:extLst>
                <a:ext uri="{FF2B5EF4-FFF2-40B4-BE49-F238E27FC236}">
                  <a16:creationId xmlns:a16="http://schemas.microsoft.com/office/drawing/2014/main" id="{B1AFCFCE-2A26-4B2D-8AD4-2ED3D01E9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2160"/>
              <a:ext cx="2390" cy="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a:extLst>
                <a:ext uri="{FF2B5EF4-FFF2-40B4-BE49-F238E27FC236}">
                  <a16:creationId xmlns:a16="http://schemas.microsoft.com/office/drawing/2014/main" id="{7C61A0F8-5F77-4CEF-81A6-120B90437792}"/>
                </a:ext>
              </a:extLst>
            </p:cNvPr>
            <p:cNvSpPr>
              <a:spLocks noChangeArrowheads="1"/>
            </p:cNvSpPr>
            <p:nvPr/>
          </p:nvSpPr>
          <p:spPr bwMode="auto">
            <a:xfrm>
              <a:off x="1200" y="3264"/>
              <a:ext cx="1488"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a:p>
          </p:txBody>
        </p:sp>
      </p:grpSp>
    </p:spTree>
    <p:extLst>
      <p:ext uri="{BB962C8B-B14F-4D97-AF65-F5344CB8AC3E}">
        <p14:creationId xmlns:p14="http://schemas.microsoft.com/office/powerpoint/2010/main" val="4152361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1B000D5-FEB1-467B-A743-1F50E6FA48BB}"/>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One tail test with rejection region on left</a:t>
            </a:r>
          </a:p>
        </p:txBody>
      </p:sp>
      <p:sp>
        <p:nvSpPr>
          <p:cNvPr id="6" name="Rectangle 3">
            <a:extLst>
              <a:ext uri="{FF2B5EF4-FFF2-40B4-BE49-F238E27FC236}">
                <a16:creationId xmlns:a16="http://schemas.microsoft.com/office/drawing/2014/main" id="{B79A798E-184F-4A25-B175-75DE8C870526}"/>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rejection region will be in the left tail.</a:t>
            </a:r>
          </a:p>
        </p:txBody>
      </p:sp>
      <p:pic>
        <p:nvPicPr>
          <p:cNvPr id="7" name="Picture 6">
            <a:extLst>
              <a:ext uri="{FF2B5EF4-FFF2-40B4-BE49-F238E27FC236}">
                <a16:creationId xmlns:a16="http://schemas.microsoft.com/office/drawing/2014/main" id="{E799C8B4-27E3-400A-AF11-A77700CCD3DB}"/>
              </a:ext>
            </a:extLst>
          </p:cNvPr>
          <p:cNvPicPr>
            <a:picLocks noChangeAspect="1"/>
          </p:cNvPicPr>
          <p:nvPr/>
        </p:nvPicPr>
        <p:blipFill>
          <a:blip r:embed="rId2"/>
          <a:stretch>
            <a:fillRect/>
          </a:stretch>
        </p:blipFill>
        <p:spPr>
          <a:xfrm>
            <a:off x="914400" y="1842681"/>
            <a:ext cx="7010400" cy="4100919"/>
          </a:xfrm>
          <a:prstGeom prst="rect">
            <a:avLst/>
          </a:prstGeom>
        </p:spPr>
      </p:pic>
    </p:spTree>
    <p:extLst>
      <p:ext uri="{BB962C8B-B14F-4D97-AF65-F5344CB8AC3E}">
        <p14:creationId xmlns:p14="http://schemas.microsoft.com/office/powerpoint/2010/main" val="1902989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D5D6582-7DDF-4C59-8479-4E9B1168B6D2}"/>
              </a:ext>
            </a:extLst>
          </p:cNvPr>
          <p:cNvSpPr txBox="1"/>
          <p:nvPr/>
        </p:nvSpPr>
        <p:spPr>
          <a:xfrm>
            <a:off x="1447800" y="228600"/>
            <a:ext cx="6362700" cy="461665"/>
          </a:xfrm>
          <a:prstGeom prst="rect">
            <a:avLst/>
          </a:prstGeom>
          <a:noFill/>
        </p:spPr>
        <p:txBody>
          <a:bodyPr wrap="square">
            <a:spAutoFit/>
          </a:bodyPr>
          <a:lstStyle/>
          <a:p>
            <a:r>
              <a:rPr lang="en-US" altLang="en-US" sz="2400" b="1" u="sng" dirty="0">
                <a:latin typeface="Times New Roman" panose="02020603050405020304" pitchFamily="18" charset="0"/>
                <a:cs typeface="Times New Roman" panose="02020603050405020304" pitchFamily="18" charset="0"/>
              </a:rPr>
              <a:t>Two tail test with rejection region in both tails</a:t>
            </a:r>
            <a:endParaRPr lang="en-US" sz="2400" b="1" u="sng"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38A19328-7AA9-43E6-B6AC-A4C1CDE351E3}"/>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The rejection region is split equally between the two tails.</a:t>
            </a:r>
          </a:p>
        </p:txBody>
      </p:sp>
      <p:pic>
        <p:nvPicPr>
          <p:cNvPr id="6" name="Picture 6">
            <a:extLst>
              <a:ext uri="{FF2B5EF4-FFF2-40B4-BE49-F238E27FC236}">
                <a16:creationId xmlns:a16="http://schemas.microsoft.com/office/drawing/2014/main" id="{DB73A968-AE7A-49ED-A6A8-B182176D7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65300"/>
            <a:ext cx="70358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7885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D26FB23-7A10-4899-BC3D-B024A8217769}"/>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 </a:t>
            </a:r>
            <a:r>
              <a:rPr lang="en-US" altLang="en-US" b="1" u="sng" dirty="0">
                <a:solidFill>
                  <a:srgbClr val="FF0000"/>
                </a:solidFill>
                <a:latin typeface="Times New Roman" panose="02020603050405020304" pitchFamily="18" charset="0"/>
                <a:cs typeface="Times New Roman" panose="02020603050405020304" pitchFamily="18" charset="0"/>
              </a:rPr>
              <a:t>Students work</a:t>
            </a:r>
            <a:endParaRPr lang="en-US" altLang="en-US" b="1" u="sng"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3C6D5635-53BA-417F-B4D1-EEF580232C47}"/>
              </a:ext>
            </a:extLst>
          </p:cNvPr>
          <p:cNvSpPr txBox="1">
            <a:spLocks noRot="1" noChangeAspect="1" noMove="1" noResize="1" noEditPoints="1" noAdjustHandles="1" noChangeArrowheads="1" noChangeShapeType="1" noTextEdit="1"/>
          </p:cNvSpPr>
          <p:nvPr/>
        </p:nvSpPr>
        <p:spPr>
          <a:xfrm>
            <a:off x="241300" y="914400"/>
            <a:ext cx="8902700" cy="5486400"/>
          </a:xfrm>
          <a:prstGeom prst="rect">
            <a:avLst/>
          </a:prstGeom>
          <a:blipFill rotWithShape="0">
            <a:blip r:embed="rId2"/>
            <a:stretch>
              <a:fillRect/>
            </a:stretch>
          </a:blipFill>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a:noFill/>
              </a:rPr>
              <a:t> </a:t>
            </a:r>
          </a:p>
        </p:txBody>
      </p:sp>
    </p:spTree>
    <p:extLst>
      <p:ext uri="{BB962C8B-B14F-4D97-AF65-F5344CB8AC3E}">
        <p14:creationId xmlns:p14="http://schemas.microsoft.com/office/powerpoint/2010/main" val="739679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18126C6-4989-4903-96D0-C8AE30C0925B}"/>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a:t>
            </a:r>
          </a:p>
        </p:txBody>
      </p:sp>
      <p:sp>
        <p:nvSpPr>
          <p:cNvPr id="5" name="Rectangle 3">
            <a:extLst>
              <a:ext uri="{FF2B5EF4-FFF2-40B4-BE49-F238E27FC236}">
                <a16:creationId xmlns:a16="http://schemas.microsoft.com/office/drawing/2014/main" id="{058AA546-170A-4877-B695-E668281A13C0}"/>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dirty="0">
                <a:latin typeface="Times New Roman" panose="02020603050405020304" pitchFamily="18" charset="0"/>
                <a:cs typeface="Times New Roman" panose="02020603050405020304" pitchFamily="18" charset="0"/>
              </a:rPr>
              <a:t>The rejection region is set up so we can reject the null hypothesis when the test statistic is large </a:t>
            </a:r>
            <a:r>
              <a:rPr lang="en-US" altLang="en-US" b="1" i="1" dirty="0">
                <a:solidFill>
                  <a:srgbClr val="FF0000"/>
                </a:solidFill>
                <a:latin typeface="Times New Roman" panose="02020603050405020304" pitchFamily="18" charset="0"/>
                <a:cs typeface="Times New Roman" panose="02020603050405020304" pitchFamily="18" charset="0"/>
              </a:rPr>
              <a:t>or</a:t>
            </a:r>
            <a:r>
              <a:rPr lang="en-US" altLang="en-US" dirty="0">
                <a:latin typeface="Times New Roman" panose="02020603050405020304" pitchFamily="18" charset="0"/>
                <a:cs typeface="Times New Roman" panose="02020603050405020304" pitchFamily="18" charset="0"/>
              </a:rPr>
              <a:t> when it is small.</a:t>
            </a: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That is, we set up a two-tail rejection region. The total area in the rejection region must sum to     , so we divide </a:t>
            </a:r>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en-US" dirty="0">
                <a:latin typeface="Times New Roman" panose="02020603050405020304" pitchFamily="18" charset="0"/>
                <a:cs typeface="Times New Roman" panose="02020603050405020304" pitchFamily="18" charset="0"/>
              </a:rPr>
              <a:t> by 2.</a:t>
            </a:r>
          </a:p>
        </p:txBody>
      </p:sp>
      <p:pic>
        <p:nvPicPr>
          <p:cNvPr id="6" name="Picture 4">
            <a:extLst>
              <a:ext uri="{FF2B5EF4-FFF2-40B4-BE49-F238E27FC236}">
                <a16:creationId xmlns:a16="http://schemas.microsoft.com/office/drawing/2014/main" id="{33D0098B-BD3A-4631-A8B1-570D46BD8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486400"/>
            <a:ext cx="3683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7E8406BC-377D-4A6B-A947-2F2BAC2BCB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7218" y="2286000"/>
            <a:ext cx="5630863"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a:extLst>
              <a:ext uri="{FF2B5EF4-FFF2-40B4-BE49-F238E27FC236}">
                <a16:creationId xmlns:a16="http://schemas.microsoft.com/office/drawing/2014/main" id="{33EF1829-6F41-4044-92E5-335EAF09A0FB}"/>
              </a:ext>
            </a:extLst>
          </p:cNvPr>
          <p:cNvSpPr>
            <a:spLocks noChangeArrowheads="1"/>
          </p:cNvSpPr>
          <p:nvPr/>
        </p:nvSpPr>
        <p:spPr bwMode="auto">
          <a:xfrm>
            <a:off x="2501097" y="4543112"/>
            <a:ext cx="4724400" cy="685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a:latin typeface="Times New Roman" panose="02020603050405020304" pitchFamily="18" charset="0"/>
              <a:cs typeface="Times New Roman" panose="02020603050405020304" pitchFamily="18" charset="0"/>
            </a:endParaRPr>
          </a:p>
        </p:txBody>
      </p:sp>
      <p:sp>
        <p:nvSpPr>
          <p:cNvPr id="9" name="Text Box 7">
            <a:extLst>
              <a:ext uri="{FF2B5EF4-FFF2-40B4-BE49-F238E27FC236}">
                <a16:creationId xmlns:a16="http://schemas.microsoft.com/office/drawing/2014/main" id="{3E2DFE61-D38F-4EC1-9ABD-E9FD90B5B498}"/>
              </a:ext>
            </a:extLst>
          </p:cNvPr>
          <p:cNvSpPr txBox="1">
            <a:spLocks noChangeArrowheads="1"/>
          </p:cNvSpPr>
          <p:nvPr/>
        </p:nvSpPr>
        <p:spPr bwMode="auto">
          <a:xfrm>
            <a:off x="1606942" y="4648155"/>
            <a:ext cx="1890713"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dirty="0">
                <a:solidFill>
                  <a:srgbClr val="0000FF"/>
                </a:solidFill>
              </a:rPr>
              <a:t>stat is “small”</a:t>
            </a:r>
          </a:p>
        </p:txBody>
      </p:sp>
      <p:sp>
        <p:nvSpPr>
          <p:cNvPr id="10" name="Text Box 8">
            <a:extLst>
              <a:ext uri="{FF2B5EF4-FFF2-40B4-BE49-F238E27FC236}">
                <a16:creationId xmlns:a16="http://schemas.microsoft.com/office/drawing/2014/main" id="{E3E3552A-9085-4A4B-A3F3-7C96DCB11CA8}"/>
              </a:ext>
            </a:extLst>
          </p:cNvPr>
          <p:cNvSpPr txBox="1">
            <a:spLocks noChangeArrowheads="1"/>
          </p:cNvSpPr>
          <p:nvPr/>
        </p:nvSpPr>
        <p:spPr bwMode="auto">
          <a:xfrm>
            <a:off x="5697145" y="4648155"/>
            <a:ext cx="1839913"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dirty="0">
                <a:solidFill>
                  <a:srgbClr val="0000FF"/>
                </a:solidFill>
              </a:rPr>
              <a:t>stat is “large”</a:t>
            </a:r>
          </a:p>
        </p:txBody>
      </p:sp>
      <p:pic>
        <p:nvPicPr>
          <p:cNvPr id="11" name="Picture 4">
            <a:extLst>
              <a:ext uri="{FF2B5EF4-FFF2-40B4-BE49-F238E27FC236}">
                <a16:creationId xmlns:a16="http://schemas.microsoft.com/office/drawing/2014/main" id="{0601BDB5-3EA7-4BA2-A524-022B5C561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5881173"/>
            <a:ext cx="3683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6498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05B1C91-0934-470D-8F5B-895EC18BB96D}"/>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Example…</a:t>
            </a:r>
          </a:p>
        </p:txBody>
      </p:sp>
      <p:sp>
        <p:nvSpPr>
          <p:cNvPr id="5" name="Rectangle 3">
            <a:extLst>
              <a:ext uri="{FF2B5EF4-FFF2-40B4-BE49-F238E27FC236}">
                <a16:creationId xmlns:a16="http://schemas.microsoft.com/office/drawing/2014/main" id="{7F149B61-B58D-4E79-88A6-9ACA0A2C02A1}"/>
              </a:ext>
            </a:extLst>
          </p:cNvPr>
          <p:cNvSpPr txBox="1">
            <a:spLocks noChangeArrowheads="1"/>
          </p:cNvSpPr>
          <p:nvPr/>
        </p:nvSpPr>
        <p:spPr>
          <a:xfrm>
            <a:off x="2413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At a 5% significance level (i.e.     = .05), we have</a:t>
            </a:r>
          </a:p>
          <a:p>
            <a:r>
              <a:rPr lang="en-US" altLang="en-US" sz="2400" dirty="0">
                <a:latin typeface="Times New Roman" panose="02020603050405020304" pitchFamily="18" charset="0"/>
                <a:cs typeface="Times New Roman" panose="02020603050405020304" pitchFamily="18" charset="0"/>
              </a:rPr>
              <a:t>     /2 = .025. Thus, z</a:t>
            </a:r>
            <a:r>
              <a:rPr lang="en-US" altLang="en-US" sz="2400" baseline="-25000" dirty="0">
                <a:latin typeface="Times New Roman" panose="02020603050405020304" pitchFamily="18" charset="0"/>
                <a:cs typeface="Times New Roman" panose="02020603050405020304" pitchFamily="18" charset="0"/>
              </a:rPr>
              <a:t>.025</a:t>
            </a:r>
            <a:r>
              <a:rPr lang="en-US" altLang="en-US" sz="2400" dirty="0">
                <a:latin typeface="Times New Roman" panose="02020603050405020304" pitchFamily="18" charset="0"/>
                <a:cs typeface="Times New Roman" panose="02020603050405020304" pitchFamily="18" charset="0"/>
              </a:rPr>
              <a:t> = 1.96 and our rejection region is:</a:t>
            </a:r>
          </a:p>
          <a:p>
            <a:endParaRPr lang="en-US" altLang="en-US" sz="2400" dirty="0">
              <a:latin typeface="Times New Roman" panose="02020603050405020304" pitchFamily="18" charset="0"/>
              <a:cs typeface="Times New Roman" panose="02020603050405020304" pitchFamily="18" charset="0"/>
            </a:endParaRPr>
          </a:p>
          <a:p>
            <a:pPr algn="ctr"/>
            <a:r>
              <a:rPr lang="en-US" altLang="en-US" sz="2400" dirty="0">
                <a:latin typeface="Times New Roman" panose="02020603050405020304" pitchFamily="18" charset="0"/>
                <a:cs typeface="Times New Roman" panose="02020603050405020304" pitchFamily="18" charset="0"/>
              </a:rPr>
              <a:t>z &lt; –1.96        </a:t>
            </a:r>
            <a:r>
              <a:rPr lang="en-US" altLang="en-US" sz="2400" b="1" dirty="0">
                <a:solidFill>
                  <a:srgbClr val="0000FF"/>
                </a:solidFill>
                <a:latin typeface="Times New Roman" panose="02020603050405020304" pitchFamily="18" charset="0"/>
                <a:cs typeface="Times New Roman" panose="02020603050405020304" pitchFamily="18" charset="0"/>
              </a:rPr>
              <a:t>-or-           </a:t>
            </a:r>
            <a:r>
              <a:rPr lang="en-US" altLang="en-US" sz="2400" dirty="0">
                <a:latin typeface="Times New Roman" panose="02020603050405020304" pitchFamily="18" charset="0"/>
                <a:cs typeface="Times New Roman" panose="02020603050405020304" pitchFamily="18" charset="0"/>
              </a:rPr>
              <a:t> z &gt; 1.96</a:t>
            </a:r>
          </a:p>
        </p:txBody>
      </p:sp>
      <p:pic>
        <p:nvPicPr>
          <p:cNvPr id="6" name="Picture 4">
            <a:extLst>
              <a:ext uri="{FF2B5EF4-FFF2-40B4-BE49-F238E27FC236}">
                <a16:creationId xmlns:a16="http://schemas.microsoft.com/office/drawing/2014/main" id="{605B6BAE-8E00-4B5F-98A0-09D6BB846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7850" y="990600"/>
            <a:ext cx="3683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7D62B55F-F32C-4A8F-BFCA-67D84C9427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71600"/>
            <a:ext cx="3683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47EFD71F-0017-46A8-B2D6-245D0B483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927529"/>
            <a:ext cx="5630863"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14">
            <a:extLst>
              <a:ext uri="{FF2B5EF4-FFF2-40B4-BE49-F238E27FC236}">
                <a16:creationId xmlns:a16="http://schemas.microsoft.com/office/drawing/2014/main" id="{CB5BDA44-ABC7-4919-A145-4138E52A7189}"/>
              </a:ext>
            </a:extLst>
          </p:cNvPr>
          <p:cNvSpPr>
            <a:spLocks noChangeShapeType="1"/>
          </p:cNvSpPr>
          <p:nvPr/>
        </p:nvSpPr>
        <p:spPr bwMode="auto">
          <a:xfrm>
            <a:off x="4491831" y="3078051"/>
            <a:ext cx="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0265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4C916A7-96EF-4B31-BDAC-BF0EA76C866E}"/>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b="1" u="sng" dirty="0">
                <a:latin typeface="Times New Roman" panose="02020603050405020304" pitchFamily="18" charset="0"/>
                <a:cs typeface="Times New Roman" panose="02020603050405020304" pitchFamily="18" charset="0"/>
              </a:rPr>
              <a:t>Example 2…</a:t>
            </a:r>
          </a:p>
        </p:txBody>
      </p:sp>
      <p:sp>
        <p:nvSpPr>
          <p:cNvPr id="5" name="Rectangle 3">
            <a:extLst>
              <a:ext uri="{FF2B5EF4-FFF2-40B4-BE49-F238E27FC236}">
                <a16:creationId xmlns:a16="http://schemas.microsoft.com/office/drawing/2014/main" id="{0A2C8B01-3459-41B1-9C74-9060C832C984}"/>
              </a:ext>
            </a:extLst>
          </p:cNvPr>
          <p:cNvSpPr txBox="1">
            <a:spLocks noChangeArrowheads="1"/>
          </p:cNvSpPr>
          <p:nvPr/>
        </p:nvSpPr>
        <p:spPr>
          <a:xfrm>
            <a:off x="381000" y="914400"/>
            <a:ext cx="8902700" cy="5486400"/>
          </a:xfrm>
          <a:prstGeom prst="rect">
            <a:avLst/>
          </a:prstGeom>
        </p:spPr>
        <p:txBody>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AT&amp;T study reported that         = 17.55</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Using our standardized test statistic:</a:t>
            </a:r>
          </a:p>
          <a:p>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We find that:</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Since z = 1.19 is not greater than 1.96, nor less than –1.96 we cannot reject the null hypothesis in favor of H</a:t>
            </a:r>
            <a:r>
              <a:rPr lang="en-US" altLang="en-US" sz="2400" baseline="-25000"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That is </a:t>
            </a:r>
            <a:r>
              <a:rPr lang="en-US" altLang="en-US" sz="2400" b="1" i="1" dirty="0">
                <a:latin typeface="Times New Roman" panose="02020603050405020304" pitchFamily="18" charset="0"/>
                <a:cs typeface="Times New Roman" panose="02020603050405020304" pitchFamily="18" charset="0"/>
              </a:rPr>
              <a:t>“there is insufficient evidence to infer that there is a difference between the bills of AT&amp;T and the competitor.”</a:t>
            </a:r>
            <a:endParaRPr lang="en-US" altLang="en-US" sz="2400" dirty="0">
              <a:latin typeface="Times New Roman" panose="02020603050405020304" pitchFamily="18" charset="0"/>
              <a:cs typeface="Times New Roman" panose="02020603050405020304" pitchFamily="18" charset="0"/>
            </a:endParaRPr>
          </a:p>
        </p:txBody>
      </p:sp>
      <p:pic>
        <p:nvPicPr>
          <p:cNvPr id="6" name="Picture 4">
            <a:extLst>
              <a:ext uri="{FF2B5EF4-FFF2-40B4-BE49-F238E27FC236}">
                <a16:creationId xmlns:a16="http://schemas.microsoft.com/office/drawing/2014/main" id="{7766A369-3879-4B68-A1EC-97449B413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600200"/>
            <a:ext cx="1892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CB8B8990-7B6B-4A27-8A1C-5EEE5CD0B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895600"/>
            <a:ext cx="3975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5F410C95-5AD8-4E63-B9AE-5ECA8262A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8450" y="914400"/>
            <a:ext cx="3937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7172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4A3476B-DD40-45AE-8DE1-C24EE92DBCC2}"/>
              </a:ext>
            </a:extLst>
          </p:cNvPr>
          <p:cNvSpPr txBox="1">
            <a:spLocks noChangeArrowheads="1"/>
          </p:cNvSpPr>
          <p:nvPr/>
        </p:nvSpPr>
        <p:spPr>
          <a:xfrm>
            <a:off x="228600" y="152400"/>
            <a:ext cx="8763000" cy="609600"/>
          </a:xfrm>
          <a:prstGeom prst="rect">
            <a:avLst/>
          </a:prstGeom>
        </p:spPr>
        <p:txBody>
          <a:bodyPr/>
          <a:lstStyle>
            <a:lvl1pPr algn="l" defTabSz="914400" rtl="0" eaLnBrk="1" latinLnBrk="0" hangingPunct="1">
              <a:spcBef>
                <a:spcPct val="0"/>
              </a:spcBef>
              <a:buNone/>
              <a:defRPr sz="4000" kern="1200">
                <a:solidFill>
                  <a:schemeClr val="tx1"/>
                </a:solidFill>
                <a:latin typeface="+mj-lt"/>
                <a:ea typeface="+mj-ea"/>
                <a:cs typeface="+mj-cs"/>
              </a:defRPr>
            </a:lvl1pPr>
          </a:lstStyle>
          <a:p>
            <a:r>
              <a:rPr lang="en-US" altLang="en-US" sz="3200" b="1" u="sng" dirty="0">
                <a:latin typeface="Times New Roman" panose="02020603050405020304" pitchFamily="18" charset="0"/>
                <a:cs typeface="Times New Roman" panose="02020603050405020304" pitchFamily="18" charset="0"/>
              </a:rPr>
              <a:t>Summary of One- and Two-Tail Tests…</a:t>
            </a:r>
          </a:p>
        </p:txBody>
      </p:sp>
      <p:pic>
        <p:nvPicPr>
          <p:cNvPr id="6" name="Picture 5">
            <a:extLst>
              <a:ext uri="{FF2B5EF4-FFF2-40B4-BE49-F238E27FC236}">
                <a16:creationId xmlns:a16="http://schemas.microsoft.com/office/drawing/2014/main" id="{1A3ACB64-5435-47F8-91A1-D29B0599FA0F}"/>
              </a:ext>
            </a:extLst>
          </p:cNvPr>
          <p:cNvPicPr>
            <a:picLocks noChangeAspect="1"/>
          </p:cNvPicPr>
          <p:nvPr/>
        </p:nvPicPr>
        <p:blipFill>
          <a:blip r:embed="rId2"/>
          <a:stretch>
            <a:fillRect/>
          </a:stretch>
        </p:blipFill>
        <p:spPr>
          <a:xfrm>
            <a:off x="457200" y="1143000"/>
            <a:ext cx="8042041" cy="4414960"/>
          </a:xfrm>
          <a:prstGeom prst="rect">
            <a:avLst/>
          </a:prstGeom>
        </p:spPr>
      </p:pic>
    </p:spTree>
    <p:extLst>
      <p:ext uri="{BB962C8B-B14F-4D97-AF65-F5344CB8AC3E}">
        <p14:creationId xmlns:p14="http://schemas.microsoft.com/office/powerpoint/2010/main" val="188844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10218</TotalTime>
  <Words>2429</Words>
  <Application>Microsoft Office PowerPoint</Application>
  <PresentationFormat>On-screen Show (4:3)</PresentationFormat>
  <Paragraphs>233</Paragraphs>
  <Slides>39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Arial Black</vt:lpstr>
      <vt:lpstr>Calibri</vt:lpstr>
      <vt:lpstr>Tahoma</vt:lpstr>
      <vt:lpstr>Times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waldo</dc:creator>
  <cp:lastModifiedBy>Osita Onyejekwe</cp:lastModifiedBy>
  <cp:revision>221</cp:revision>
  <dcterms:created xsi:type="dcterms:W3CDTF">2010-10-28T17:57:07Z</dcterms:created>
  <dcterms:modified xsi:type="dcterms:W3CDTF">2021-03-02T19:41:03Z</dcterms:modified>
</cp:coreProperties>
</file>